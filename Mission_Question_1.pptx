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6"/>
    <p:sldId id="260" r:id="rId7"/>
    <p:sldId id="264" r:id="rId8"/>
    <p:sldId id="265" r:id="rId9"/>
    <p:sldId id="262" r:id="rId10"/>
    <p:sldId id="263" r:id="rId1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p:cViewPr varScale="1">
        <p:scale>
          <a:sx n="78" d="100"/>
          <a:sy n="78" d="100"/>
        </p:scale>
        <p:origin x="869"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918330" y="260731"/>
            <a:ext cx="3971925" cy="454659"/>
          </a:xfrm>
          <a:prstGeom prst="rect">
            <a:avLst/>
          </a:prstGeom>
        </p:spPr>
        <p:txBody>
          <a:bodyPr wrap="square" lIns="0" tIns="0" rIns="0" bIns="0">
            <a:spAutoFit/>
          </a:bodyPr>
          <a:lstStyle>
            <a:lvl1pPr>
              <a:defRPr sz="2350" b="1" i="0">
                <a:solidFill>
                  <a:srgbClr val="781F6D"/>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50" b="1" i="0">
                <a:solidFill>
                  <a:srgbClr val="781F6D"/>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50" b="1" i="0">
                <a:solidFill>
                  <a:srgbClr val="781F6D"/>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50" b="1" i="0">
                <a:solidFill>
                  <a:srgbClr val="781F6D"/>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868950" y="115284"/>
            <a:ext cx="1120793" cy="564456"/>
          </a:xfrm>
          <a:prstGeom prst="rect">
            <a:avLst/>
          </a:prstGeom>
        </p:spPr>
      </p:pic>
      <p:pic>
        <p:nvPicPr>
          <p:cNvPr id="17" name="bg object 17"/>
          <p:cNvPicPr/>
          <p:nvPr/>
        </p:nvPicPr>
        <p:blipFill>
          <a:blip r:embed="rId8" cstate="print"/>
          <a:stretch>
            <a:fillRect/>
          </a:stretch>
        </p:blipFill>
        <p:spPr>
          <a:xfrm>
            <a:off x="381512" y="118628"/>
            <a:ext cx="341939" cy="515113"/>
          </a:xfrm>
          <a:prstGeom prst="rect">
            <a:avLst/>
          </a:prstGeom>
        </p:spPr>
      </p:pic>
      <p:sp>
        <p:nvSpPr>
          <p:cNvPr id="2" name="Holder 2"/>
          <p:cNvSpPr>
            <a:spLocks noGrp="1"/>
          </p:cNvSpPr>
          <p:nvPr>
            <p:ph type="title"/>
          </p:nvPr>
        </p:nvSpPr>
        <p:spPr>
          <a:xfrm>
            <a:off x="3429889" y="15049"/>
            <a:ext cx="5904865" cy="754380"/>
          </a:xfrm>
          <a:prstGeom prst="rect">
            <a:avLst/>
          </a:prstGeom>
        </p:spPr>
        <p:txBody>
          <a:bodyPr wrap="square" lIns="0" tIns="0" rIns="0" bIns="0">
            <a:spAutoFit/>
          </a:bodyPr>
          <a:lstStyle>
            <a:lvl1pPr>
              <a:defRPr sz="2350" b="1" i="0">
                <a:solidFill>
                  <a:srgbClr val="781F6D"/>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9/6/2026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rive.google.com/file/d/1v45AK-J_yHxNy9QDySQ19-L-nQeiTEIr/view?usp=drive_link" TargetMode="External"/><Relationship Id="rId2" Type="http://schemas.openxmlformats.org/officeDocument/2006/relationships/image" Target="../media/image10.jpg"/><Relationship Id="rId1" Type="http://schemas.openxmlformats.org/officeDocument/2006/relationships/slideLayout" Target="../slideLayouts/slideLayout5.xml"/><Relationship Id="rId5" Type="http://schemas.openxmlformats.org/officeDocument/2006/relationships/hyperlink" Target="https://drive.google.com/file/d/1OyzaEwnHrNaja4pqwoyqDbvjU8BzwBOs/view?usp=drive_link" TargetMode="External"/><Relationship Id="rId4" Type="http://schemas.openxmlformats.org/officeDocument/2006/relationships/hyperlink" Target="https://drive.google.com/file/d/1UAon4S12f-0vgeNLk4Gt6KPl3Zzl5JPh/view?usp=sharing"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148709" y="328168"/>
            <a:ext cx="3563620" cy="509270"/>
          </a:xfrm>
          <a:prstGeom prst="rect">
            <a:avLst/>
          </a:prstGeom>
        </p:spPr>
        <p:txBody>
          <a:bodyPr vert="horz" wrap="square" lIns="0" tIns="15240" rIns="0" bIns="0" rtlCol="0">
            <a:spAutoFit/>
          </a:bodyPr>
          <a:lstStyle/>
          <a:p>
            <a:pPr marL="12700">
              <a:lnSpc>
                <a:spcPct val="100000"/>
              </a:lnSpc>
              <a:spcBef>
                <a:spcPts val="120"/>
              </a:spcBef>
            </a:pPr>
            <a:r>
              <a:rPr sz="3150" dirty="0">
                <a:solidFill>
                  <a:srgbClr val="79C2EA"/>
                </a:solidFill>
                <a:latin typeface="Calibri"/>
                <a:cs typeface="Calibri"/>
              </a:rPr>
              <a:t>Mission</a:t>
            </a:r>
            <a:r>
              <a:rPr sz="3150" spc="35" dirty="0">
                <a:solidFill>
                  <a:srgbClr val="79C2EA"/>
                </a:solidFill>
                <a:latin typeface="Calibri"/>
                <a:cs typeface="Calibri"/>
              </a:rPr>
              <a:t> </a:t>
            </a:r>
            <a:r>
              <a:rPr sz="3150" dirty="0">
                <a:solidFill>
                  <a:srgbClr val="79C2EA"/>
                </a:solidFill>
                <a:latin typeface="Calibri"/>
                <a:cs typeface="Calibri"/>
              </a:rPr>
              <a:t>2</a:t>
            </a:r>
            <a:r>
              <a:rPr sz="3150" spc="95" dirty="0">
                <a:solidFill>
                  <a:srgbClr val="79C2EA"/>
                </a:solidFill>
                <a:latin typeface="Calibri"/>
                <a:cs typeface="Calibri"/>
              </a:rPr>
              <a:t> </a:t>
            </a:r>
            <a:r>
              <a:rPr sz="3150" spc="-10" dirty="0">
                <a:solidFill>
                  <a:srgbClr val="79C2EA"/>
                </a:solidFill>
                <a:latin typeface="Calibri"/>
                <a:cs typeface="Calibri"/>
              </a:rPr>
              <a:t>Submission</a:t>
            </a:r>
            <a:endParaRPr sz="3150">
              <a:latin typeface="Calibri"/>
              <a:cs typeface="Calibri"/>
            </a:endParaRPr>
          </a:p>
        </p:txBody>
      </p:sp>
      <p:sp>
        <p:nvSpPr>
          <p:cNvPr id="2" name="object 2" descr="$PPTXTitle"/>
          <p:cNvSpPr txBox="1">
            <a:spLocks noGrp="1"/>
          </p:cNvSpPr>
          <p:nvPr>
            <p:ph type="title"/>
          </p:nvPr>
        </p:nvSpPr>
        <p:spPr>
          <a:xfrm>
            <a:off x="1110754" y="990600"/>
            <a:ext cx="11389360" cy="3250955"/>
          </a:xfrm>
          <a:prstGeom prst="rect">
            <a:avLst/>
          </a:prstGeom>
        </p:spPr>
        <p:txBody>
          <a:bodyPr vert="horz" wrap="square" lIns="0" tIns="12700" rIns="0" bIns="0" rtlCol="0">
            <a:spAutoFit/>
          </a:bodyPr>
          <a:lstStyle/>
          <a:p>
            <a:pPr marL="12700" marR="5080">
              <a:lnSpc>
                <a:spcPct val="150000"/>
              </a:lnSpc>
              <a:spcBef>
                <a:spcPts val="100"/>
              </a:spcBef>
            </a:pPr>
            <a:r>
              <a:rPr sz="3600" spc="235" dirty="0">
                <a:solidFill>
                  <a:srgbClr val="000000"/>
                </a:solidFill>
              </a:rPr>
              <a:t>Student</a:t>
            </a:r>
            <a:r>
              <a:rPr sz="3600" spc="-10" dirty="0">
                <a:solidFill>
                  <a:srgbClr val="000000"/>
                </a:solidFill>
              </a:rPr>
              <a:t> </a:t>
            </a:r>
            <a:r>
              <a:rPr sz="3600" spc="225" dirty="0">
                <a:solidFill>
                  <a:srgbClr val="000000"/>
                </a:solidFill>
              </a:rPr>
              <a:t>Name:</a:t>
            </a:r>
            <a:r>
              <a:rPr lang="en-IN" sz="3600" spc="225" dirty="0">
                <a:solidFill>
                  <a:srgbClr val="000000"/>
                </a:solidFill>
              </a:rPr>
              <a:t> Aditya M</a:t>
            </a:r>
            <a:br>
              <a:rPr lang="en-IN" sz="3600" spc="225" dirty="0">
                <a:solidFill>
                  <a:srgbClr val="000000"/>
                </a:solidFill>
              </a:rPr>
            </a:br>
            <a:r>
              <a:rPr sz="3600" spc="360" dirty="0">
                <a:solidFill>
                  <a:srgbClr val="000000"/>
                </a:solidFill>
              </a:rPr>
              <a:t>CWC</a:t>
            </a:r>
            <a:r>
              <a:rPr sz="3600" spc="5" dirty="0">
                <a:solidFill>
                  <a:srgbClr val="000000"/>
                </a:solidFill>
              </a:rPr>
              <a:t> </a:t>
            </a:r>
            <a:r>
              <a:rPr sz="3600" spc="320" dirty="0">
                <a:solidFill>
                  <a:srgbClr val="000000"/>
                </a:solidFill>
              </a:rPr>
              <a:t>ID:</a:t>
            </a:r>
            <a:r>
              <a:rPr lang="en-IN" sz="3600" spc="320" dirty="0">
                <a:solidFill>
                  <a:srgbClr val="000000"/>
                </a:solidFill>
              </a:rPr>
              <a:t> 26CWCA3412</a:t>
            </a:r>
            <a:endParaRPr sz="3600" dirty="0"/>
          </a:p>
          <a:p>
            <a:pPr marL="12700" marR="1641475">
              <a:lnSpc>
                <a:spcPct val="150000"/>
              </a:lnSpc>
            </a:pPr>
            <a:r>
              <a:rPr sz="3600" spc="220" dirty="0">
                <a:solidFill>
                  <a:srgbClr val="000000"/>
                </a:solidFill>
              </a:rPr>
              <a:t>School:</a:t>
            </a:r>
            <a:r>
              <a:rPr lang="en-IN" sz="3600" spc="220" dirty="0">
                <a:solidFill>
                  <a:srgbClr val="000000"/>
                </a:solidFill>
              </a:rPr>
              <a:t> Sharada Vidyalaya</a:t>
            </a:r>
            <a:br>
              <a:rPr lang="en-IN" sz="3600" spc="220" dirty="0">
                <a:solidFill>
                  <a:srgbClr val="000000"/>
                </a:solidFill>
              </a:rPr>
            </a:br>
            <a:r>
              <a:rPr sz="3600" spc="250" dirty="0">
                <a:solidFill>
                  <a:srgbClr val="000000"/>
                </a:solidFill>
              </a:rPr>
              <a:t>Track:</a:t>
            </a:r>
            <a:r>
              <a:rPr lang="en-IN" sz="3600" spc="250" dirty="0">
                <a:solidFill>
                  <a:srgbClr val="000000"/>
                </a:solidFill>
              </a:rPr>
              <a:t> Eat Real #FixYourPlate</a:t>
            </a:r>
            <a:endParaRPr sz="3600" dirty="0"/>
          </a:p>
        </p:txBody>
      </p:sp>
      <p:pic>
        <p:nvPicPr>
          <p:cNvPr id="3" name="object 3"/>
          <p:cNvPicPr/>
          <p:nvPr/>
        </p:nvPicPr>
        <p:blipFill>
          <a:blip r:embed="rId2" cstate="print"/>
          <a:stretch>
            <a:fillRect/>
          </a:stretch>
        </p:blipFill>
        <p:spPr>
          <a:xfrm>
            <a:off x="291352" y="5787259"/>
            <a:ext cx="199195" cy="171617"/>
          </a:xfrm>
          <a:prstGeom prst="rect">
            <a:avLst/>
          </a:prstGeom>
        </p:spPr>
      </p:pic>
      <p:sp>
        <p:nvSpPr>
          <p:cNvPr id="4" name="object 4"/>
          <p:cNvSpPr txBox="1"/>
          <p:nvPr/>
        </p:nvSpPr>
        <p:spPr>
          <a:xfrm>
            <a:off x="544144" y="5766308"/>
            <a:ext cx="11389360" cy="875665"/>
          </a:xfrm>
          <a:prstGeom prst="rect">
            <a:avLst/>
          </a:prstGeom>
        </p:spPr>
        <p:txBody>
          <a:bodyPr vert="horz" wrap="square" lIns="0" tIns="10160" rIns="0" bIns="0" rtlCol="0">
            <a:spAutoFit/>
          </a:bodyPr>
          <a:lstStyle/>
          <a:p>
            <a:pPr marL="2666365" marR="5080" indent="-2654300">
              <a:lnSpc>
                <a:spcPct val="102400"/>
              </a:lnSpc>
              <a:spcBef>
                <a:spcPts val="80"/>
              </a:spcBef>
            </a:pPr>
            <a:r>
              <a:rPr sz="1350" spc="60" dirty="0">
                <a:latin typeface="Calibri"/>
                <a:cs typeface="Calibri"/>
              </a:rPr>
              <a:t>Record</a:t>
            </a:r>
            <a:r>
              <a:rPr sz="1350" spc="85" dirty="0">
                <a:latin typeface="Calibri"/>
                <a:cs typeface="Calibri"/>
              </a:rPr>
              <a:t> </a:t>
            </a:r>
            <a:r>
              <a:rPr sz="1350" dirty="0">
                <a:latin typeface="Calibri"/>
                <a:cs typeface="Calibri"/>
              </a:rPr>
              <a:t>your</a:t>
            </a:r>
            <a:r>
              <a:rPr sz="1350" spc="120" dirty="0">
                <a:latin typeface="Calibri"/>
                <a:cs typeface="Calibri"/>
              </a:rPr>
              <a:t> </a:t>
            </a:r>
            <a:r>
              <a:rPr sz="1350" spc="65" dirty="0">
                <a:latin typeface="Calibri"/>
                <a:cs typeface="Calibri"/>
              </a:rPr>
              <a:t>change</a:t>
            </a:r>
            <a:r>
              <a:rPr sz="1350" spc="145" dirty="0">
                <a:latin typeface="Calibri"/>
                <a:cs typeface="Calibri"/>
              </a:rPr>
              <a:t> </a:t>
            </a:r>
            <a:r>
              <a:rPr sz="1350" dirty="0">
                <a:latin typeface="Calibri"/>
                <a:cs typeface="Calibri"/>
              </a:rPr>
              <a:t>with</a:t>
            </a:r>
            <a:r>
              <a:rPr sz="1350" spc="15" dirty="0">
                <a:latin typeface="Calibri"/>
                <a:cs typeface="Calibri"/>
              </a:rPr>
              <a:t> </a:t>
            </a:r>
            <a:r>
              <a:rPr sz="1350" spc="75" dirty="0">
                <a:latin typeface="Calibri"/>
                <a:cs typeface="Calibri"/>
              </a:rPr>
              <a:t>a</a:t>
            </a:r>
            <a:r>
              <a:rPr sz="1350" spc="140" dirty="0">
                <a:latin typeface="Calibri"/>
                <a:cs typeface="Calibri"/>
              </a:rPr>
              <a:t> </a:t>
            </a:r>
            <a:r>
              <a:rPr sz="1350" dirty="0">
                <a:latin typeface="Calibri"/>
                <a:cs typeface="Calibri"/>
              </a:rPr>
              <a:t>number.</a:t>
            </a:r>
            <a:r>
              <a:rPr sz="1350" spc="110" dirty="0">
                <a:latin typeface="Calibri"/>
                <a:cs typeface="Calibri"/>
              </a:rPr>
              <a:t> </a:t>
            </a:r>
            <a:r>
              <a:rPr sz="1350" dirty="0">
                <a:latin typeface="Calibri"/>
                <a:cs typeface="Calibri"/>
              </a:rPr>
              <a:t>Then</a:t>
            </a:r>
            <a:r>
              <a:rPr sz="1350" spc="100" dirty="0">
                <a:latin typeface="Calibri"/>
                <a:cs typeface="Calibri"/>
              </a:rPr>
              <a:t> </a:t>
            </a:r>
            <a:r>
              <a:rPr sz="1350" dirty="0">
                <a:latin typeface="Calibri"/>
                <a:cs typeface="Calibri"/>
              </a:rPr>
              <a:t>explain</a:t>
            </a:r>
            <a:r>
              <a:rPr sz="1350" spc="105" dirty="0">
                <a:latin typeface="Calibri"/>
                <a:cs typeface="Calibri"/>
              </a:rPr>
              <a:t> </a:t>
            </a:r>
            <a:r>
              <a:rPr sz="1350" dirty="0">
                <a:latin typeface="Calibri"/>
                <a:cs typeface="Calibri"/>
              </a:rPr>
              <a:t>the</a:t>
            </a:r>
            <a:r>
              <a:rPr sz="1350" spc="55" dirty="0">
                <a:latin typeface="Calibri"/>
                <a:cs typeface="Calibri"/>
              </a:rPr>
              <a:t> </a:t>
            </a:r>
            <a:r>
              <a:rPr sz="1350" dirty="0">
                <a:latin typeface="Calibri"/>
                <a:cs typeface="Calibri"/>
              </a:rPr>
              <a:t>story</a:t>
            </a:r>
            <a:r>
              <a:rPr sz="1350" spc="90" dirty="0">
                <a:latin typeface="Calibri"/>
                <a:cs typeface="Calibri"/>
              </a:rPr>
              <a:t> </a:t>
            </a:r>
            <a:r>
              <a:rPr sz="1350" spc="55" dirty="0">
                <a:latin typeface="Calibri"/>
                <a:cs typeface="Calibri"/>
              </a:rPr>
              <a:t>behind</a:t>
            </a:r>
            <a:r>
              <a:rPr sz="1350" spc="90" dirty="0">
                <a:latin typeface="Calibri"/>
                <a:cs typeface="Calibri"/>
              </a:rPr>
              <a:t> </a:t>
            </a:r>
            <a:r>
              <a:rPr sz="1350" dirty="0">
                <a:latin typeface="Calibri"/>
                <a:cs typeface="Calibri"/>
              </a:rPr>
              <a:t>it</a:t>
            </a:r>
            <a:r>
              <a:rPr sz="1350" spc="40" dirty="0">
                <a:latin typeface="Calibri"/>
                <a:cs typeface="Calibri"/>
              </a:rPr>
              <a:t> </a:t>
            </a:r>
            <a:r>
              <a:rPr sz="1350" spc="90" dirty="0">
                <a:latin typeface="Calibri"/>
                <a:cs typeface="Calibri"/>
              </a:rPr>
              <a:t>because</a:t>
            </a:r>
            <a:r>
              <a:rPr sz="1350" spc="150" dirty="0">
                <a:latin typeface="Calibri"/>
                <a:cs typeface="Calibri"/>
              </a:rPr>
              <a:t> </a:t>
            </a:r>
            <a:r>
              <a:rPr sz="1350" spc="75" dirty="0">
                <a:latin typeface="Calibri"/>
                <a:cs typeface="Calibri"/>
              </a:rPr>
              <a:t>a</a:t>
            </a:r>
            <a:r>
              <a:rPr sz="1350" spc="50" dirty="0">
                <a:latin typeface="Calibri"/>
                <a:cs typeface="Calibri"/>
              </a:rPr>
              <a:t> </a:t>
            </a:r>
            <a:r>
              <a:rPr sz="1350" spc="60" dirty="0">
                <a:latin typeface="Calibri"/>
                <a:cs typeface="Calibri"/>
              </a:rPr>
              <a:t>number</a:t>
            </a:r>
            <a:r>
              <a:rPr sz="1350" spc="20" dirty="0">
                <a:latin typeface="Calibri"/>
                <a:cs typeface="Calibri"/>
              </a:rPr>
              <a:t> </a:t>
            </a:r>
            <a:r>
              <a:rPr sz="1350" dirty="0">
                <a:latin typeface="Calibri"/>
                <a:cs typeface="Calibri"/>
              </a:rPr>
              <a:t>without</a:t>
            </a:r>
            <a:r>
              <a:rPr sz="1350" spc="135" dirty="0">
                <a:latin typeface="Calibri"/>
                <a:cs typeface="Calibri"/>
              </a:rPr>
              <a:t> </a:t>
            </a:r>
            <a:r>
              <a:rPr sz="1350" dirty="0">
                <a:latin typeface="Calibri"/>
                <a:cs typeface="Calibri"/>
              </a:rPr>
              <a:t>context</a:t>
            </a:r>
            <a:r>
              <a:rPr sz="1350" spc="135" dirty="0">
                <a:latin typeface="Calibri"/>
                <a:cs typeface="Calibri"/>
              </a:rPr>
              <a:t> </a:t>
            </a:r>
            <a:r>
              <a:rPr sz="1350" spc="60" dirty="0">
                <a:latin typeface="Calibri"/>
                <a:cs typeface="Calibri"/>
              </a:rPr>
              <a:t>could</a:t>
            </a:r>
            <a:r>
              <a:rPr sz="1350" spc="90" dirty="0">
                <a:latin typeface="Calibri"/>
                <a:cs typeface="Calibri"/>
              </a:rPr>
              <a:t> </a:t>
            </a:r>
            <a:r>
              <a:rPr sz="1350" spc="50" dirty="0">
                <a:latin typeface="Calibri"/>
                <a:cs typeface="Calibri"/>
              </a:rPr>
              <a:t>just</a:t>
            </a:r>
            <a:r>
              <a:rPr sz="1350" spc="135" dirty="0">
                <a:latin typeface="Calibri"/>
                <a:cs typeface="Calibri"/>
              </a:rPr>
              <a:t> </a:t>
            </a:r>
            <a:r>
              <a:rPr sz="1350" dirty="0">
                <a:latin typeface="Calibri"/>
                <a:cs typeface="Calibri"/>
              </a:rPr>
              <a:t>be</a:t>
            </a:r>
            <a:r>
              <a:rPr sz="1350" spc="145" dirty="0">
                <a:latin typeface="Calibri"/>
                <a:cs typeface="Calibri"/>
              </a:rPr>
              <a:t> </a:t>
            </a:r>
            <a:r>
              <a:rPr sz="1350" spc="65" dirty="0">
                <a:latin typeface="Calibri"/>
                <a:cs typeface="Calibri"/>
              </a:rPr>
              <a:t>luck,</a:t>
            </a:r>
            <a:r>
              <a:rPr sz="1350" spc="110" dirty="0">
                <a:latin typeface="Calibri"/>
                <a:cs typeface="Calibri"/>
              </a:rPr>
              <a:t> </a:t>
            </a:r>
            <a:r>
              <a:rPr sz="1350" dirty="0">
                <a:latin typeface="Calibri"/>
                <a:cs typeface="Calibri"/>
              </a:rPr>
              <a:t>not</a:t>
            </a:r>
            <a:r>
              <a:rPr sz="1350" spc="40" dirty="0">
                <a:latin typeface="Calibri"/>
                <a:cs typeface="Calibri"/>
              </a:rPr>
              <a:t> </a:t>
            </a:r>
            <a:r>
              <a:rPr sz="1350" dirty="0">
                <a:latin typeface="Calibri"/>
                <a:cs typeface="Calibri"/>
              </a:rPr>
              <a:t>real</a:t>
            </a:r>
            <a:r>
              <a:rPr sz="1350" spc="65" dirty="0">
                <a:latin typeface="Calibri"/>
                <a:cs typeface="Calibri"/>
              </a:rPr>
              <a:t> </a:t>
            </a:r>
            <a:r>
              <a:rPr sz="1350" spc="60" dirty="0">
                <a:latin typeface="Calibri"/>
                <a:cs typeface="Calibri"/>
              </a:rPr>
              <a:t>change.</a:t>
            </a:r>
            <a:r>
              <a:rPr sz="1350" spc="100" dirty="0">
                <a:latin typeface="Calibri"/>
                <a:cs typeface="Calibri"/>
              </a:rPr>
              <a:t> </a:t>
            </a:r>
            <a:r>
              <a:rPr sz="1350" spc="55" dirty="0">
                <a:latin typeface="Calibri"/>
                <a:cs typeface="Calibri"/>
              </a:rPr>
              <a:t>Pledged</a:t>
            </a:r>
            <a:r>
              <a:rPr sz="1350" spc="85" dirty="0">
                <a:latin typeface="Calibri"/>
                <a:cs typeface="Calibri"/>
              </a:rPr>
              <a:t> </a:t>
            </a:r>
            <a:r>
              <a:rPr sz="1350" spc="-25" dirty="0">
                <a:latin typeface="Calibri"/>
                <a:cs typeface="Calibri"/>
              </a:rPr>
              <a:t>to </a:t>
            </a:r>
            <a:r>
              <a:rPr sz="1350" spc="65" dirty="0">
                <a:latin typeface="Calibri"/>
                <a:cs typeface="Calibri"/>
              </a:rPr>
              <a:t>cut</a:t>
            </a:r>
            <a:r>
              <a:rPr sz="1350" spc="-5" dirty="0">
                <a:latin typeface="Calibri"/>
                <a:cs typeface="Calibri"/>
              </a:rPr>
              <a:t> </a:t>
            </a:r>
            <a:r>
              <a:rPr sz="1350" spc="70" dirty="0">
                <a:latin typeface="Calibri"/>
                <a:cs typeface="Calibri"/>
              </a:rPr>
              <a:t>plastic</a:t>
            </a:r>
            <a:r>
              <a:rPr sz="1350" spc="20" dirty="0">
                <a:latin typeface="Calibri"/>
                <a:cs typeface="Calibri"/>
              </a:rPr>
              <a:t> </a:t>
            </a:r>
            <a:r>
              <a:rPr sz="1350" dirty="0">
                <a:latin typeface="Calibri"/>
                <a:cs typeface="Calibri"/>
              </a:rPr>
              <a:t>in</a:t>
            </a:r>
            <a:r>
              <a:rPr sz="1350" spc="55" dirty="0">
                <a:latin typeface="Calibri"/>
                <a:cs typeface="Calibri"/>
              </a:rPr>
              <a:t> </a:t>
            </a:r>
            <a:r>
              <a:rPr sz="1350" dirty="0">
                <a:latin typeface="Calibri"/>
                <a:cs typeface="Calibri"/>
              </a:rPr>
              <a:t>your</a:t>
            </a:r>
            <a:r>
              <a:rPr sz="1350" spc="-20" dirty="0">
                <a:latin typeface="Calibri"/>
                <a:cs typeface="Calibri"/>
              </a:rPr>
              <a:t> </a:t>
            </a:r>
            <a:r>
              <a:rPr sz="1350" spc="65" dirty="0">
                <a:latin typeface="Calibri"/>
                <a:cs typeface="Calibri"/>
              </a:rPr>
              <a:t>canteen?</a:t>
            </a:r>
            <a:r>
              <a:rPr sz="1350" spc="-30" dirty="0">
                <a:latin typeface="Calibri"/>
                <a:cs typeface="Calibri"/>
              </a:rPr>
              <a:t> </a:t>
            </a:r>
            <a:r>
              <a:rPr sz="1350" spc="70" dirty="0">
                <a:latin typeface="Calibri"/>
                <a:cs typeface="Calibri"/>
              </a:rPr>
              <a:t>Now</a:t>
            </a:r>
            <a:r>
              <a:rPr sz="1350" spc="40" dirty="0">
                <a:latin typeface="Calibri"/>
                <a:cs typeface="Calibri"/>
              </a:rPr>
              <a:t> </a:t>
            </a:r>
            <a:r>
              <a:rPr sz="1350" dirty="0">
                <a:latin typeface="Calibri"/>
                <a:cs typeface="Calibri"/>
              </a:rPr>
              <a:t>go</a:t>
            </a:r>
            <a:r>
              <a:rPr sz="1350" spc="55" dirty="0">
                <a:latin typeface="Calibri"/>
                <a:cs typeface="Calibri"/>
              </a:rPr>
              <a:t> </a:t>
            </a:r>
            <a:r>
              <a:rPr sz="1350" spc="70" dirty="0">
                <a:latin typeface="Calibri"/>
                <a:cs typeface="Calibri"/>
              </a:rPr>
              <a:t>measure</a:t>
            </a:r>
            <a:r>
              <a:rPr sz="1350" spc="20" dirty="0">
                <a:latin typeface="Calibri"/>
                <a:cs typeface="Calibri"/>
              </a:rPr>
              <a:t> </a:t>
            </a:r>
            <a:r>
              <a:rPr sz="1350" dirty="0">
                <a:latin typeface="Calibri"/>
                <a:cs typeface="Calibri"/>
              </a:rPr>
              <a:t>it,</a:t>
            </a:r>
            <a:r>
              <a:rPr sz="1350" spc="-20" dirty="0">
                <a:latin typeface="Calibri"/>
                <a:cs typeface="Calibri"/>
              </a:rPr>
              <a:t> </a:t>
            </a:r>
            <a:r>
              <a:rPr sz="1350" spc="65" dirty="0">
                <a:latin typeface="Calibri"/>
                <a:cs typeface="Calibri"/>
              </a:rPr>
              <a:t>cut</a:t>
            </a:r>
            <a:r>
              <a:rPr sz="1350" spc="85" dirty="0">
                <a:latin typeface="Calibri"/>
                <a:cs typeface="Calibri"/>
              </a:rPr>
              <a:t> </a:t>
            </a:r>
            <a:r>
              <a:rPr sz="1350" dirty="0">
                <a:latin typeface="Calibri"/>
                <a:cs typeface="Calibri"/>
              </a:rPr>
              <a:t>it,</a:t>
            </a:r>
            <a:r>
              <a:rPr sz="1350" spc="-20" dirty="0">
                <a:latin typeface="Calibri"/>
                <a:cs typeface="Calibri"/>
              </a:rPr>
              <a:t> </a:t>
            </a:r>
            <a:r>
              <a:rPr sz="1350" spc="60" dirty="0">
                <a:latin typeface="Calibri"/>
                <a:cs typeface="Calibri"/>
              </a:rPr>
              <a:t>and</a:t>
            </a:r>
            <a:r>
              <a:rPr sz="1350" spc="40" dirty="0">
                <a:latin typeface="Calibri"/>
                <a:cs typeface="Calibri"/>
              </a:rPr>
              <a:t> </a:t>
            </a:r>
            <a:r>
              <a:rPr sz="1350" spc="70" dirty="0">
                <a:latin typeface="Calibri"/>
                <a:cs typeface="Calibri"/>
              </a:rPr>
              <a:t>measure</a:t>
            </a:r>
            <a:r>
              <a:rPr sz="1350" spc="15" dirty="0">
                <a:latin typeface="Calibri"/>
                <a:cs typeface="Calibri"/>
              </a:rPr>
              <a:t> </a:t>
            </a:r>
            <a:r>
              <a:rPr sz="1350" dirty="0">
                <a:latin typeface="Calibri"/>
                <a:cs typeface="Calibri"/>
              </a:rPr>
              <a:t>it </a:t>
            </a:r>
            <a:r>
              <a:rPr sz="1350" spc="50" dirty="0">
                <a:latin typeface="Calibri"/>
                <a:cs typeface="Calibri"/>
              </a:rPr>
              <a:t>again.</a:t>
            </a:r>
            <a:endParaRPr sz="1350">
              <a:latin typeface="Calibri"/>
              <a:cs typeface="Calibri"/>
            </a:endParaRPr>
          </a:p>
          <a:p>
            <a:pPr>
              <a:lnSpc>
                <a:spcPct val="100000"/>
              </a:lnSpc>
              <a:spcBef>
                <a:spcPts val="120"/>
              </a:spcBef>
            </a:pPr>
            <a:endParaRPr sz="1350">
              <a:latin typeface="Calibri"/>
              <a:cs typeface="Calibri"/>
            </a:endParaRPr>
          </a:p>
          <a:p>
            <a:pPr marL="857885">
              <a:lnSpc>
                <a:spcPct val="100000"/>
              </a:lnSpc>
            </a:pPr>
            <a:r>
              <a:rPr sz="1350" dirty="0">
                <a:latin typeface="Calibri"/>
                <a:cs typeface="Calibri"/>
              </a:rPr>
              <a:t>Every</a:t>
            </a:r>
            <a:r>
              <a:rPr sz="1350" spc="55" dirty="0">
                <a:latin typeface="Calibri"/>
                <a:cs typeface="Calibri"/>
              </a:rPr>
              <a:t> </a:t>
            </a:r>
            <a:r>
              <a:rPr sz="1350" spc="50" dirty="0">
                <a:latin typeface="Calibri"/>
                <a:cs typeface="Calibri"/>
              </a:rPr>
              <a:t>Mission</a:t>
            </a:r>
            <a:r>
              <a:rPr sz="1350" spc="70" dirty="0">
                <a:latin typeface="Calibri"/>
                <a:cs typeface="Calibri"/>
              </a:rPr>
              <a:t> </a:t>
            </a:r>
            <a:r>
              <a:rPr sz="1350" dirty="0">
                <a:latin typeface="Calibri"/>
                <a:cs typeface="Calibri"/>
              </a:rPr>
              <a:t>2</a:t>
            </a:r>
            <a:r>
              <a:rPr sz="1350" spc="95" dirty="0">
                <a:latin typeface="Calibri"/>
                <a:cs typeface="Calibri"/>
              </a:rPr>
              <a:t> </a:t>
            </a:r>
            <a:r>
              <a:rPr sz="1350" spc="75" dirty="0">
                <a:latin typeface="Calibri"/>
                <a:cs typeface="Calibri"/>
              </a:rPr>
              <a:t>submission</a:t>
            </a:r>
            <a:r>
              <a:rPr sz="1350" spc="70" dirty="0">
                <a:latin typeface="Calibri"/>
                <a:cs typeface="Calibri"/>
              </a:rPr>
              <a:t> needs:</a:t>
            </a:r>
            <a:r>
              <a:rPr sz="1350" spc="-5" dirty="0">
                <a:latin typeface="Calibri"/>
                <a:cs typeface="Calibri"/>
              </a:rPr>
              <a:t> </a:t>
            </a:r>
            <a:r>
              <a:rPr sz="1350" spc="80" dirty="0">
                <a:latin typeface="Calibri"/>
                <a:cs typeface="Calibri"/>
              </a:rPr>
              <a:t>No</a:t>
            </a:r>
            <a:r>
              <a:rPr sz="1350" spc="70" dirty="0">
                <a:latin typeface="Calibri"/>
                <a:cs typeface="Calibri"/>
              </a:rPr>
              <a:t> </a:t>
            </a:r>
            <a:r>
              <a:rPr sz="1350" spc="50" dirty="0">
                <a:latin typeface="Calibri"/>
                <a:cs typeface="Calibri"/>
              </a:rPr>
              <a:t>number</a:t>
            </a:r>
            <a:r>
              <a:rPr sz="1350" spc="75" dirty="0">
                <a:latin typeface="Calibri"/>
                <a:cs typeface="Calibri"/>
              </a:rPr>
              <a:t> </a:t>
            </a:r>
            <a:r>
              <a:rPr sz="1350" spc="50" dirty="0">
                <a:latin typeface="Calibri"/>
                <a:cs typeface="Calibri"/>
              </a:rPr>
              <a:t>=</a:t>
            </a:r>
            <a:r>
              <a:rPr sz="1350" spc="10" dirty="0">
                <a:latin typeface="Calibri"/>
                <a:cs typeface="Calibri"/>
              </a:rPr>
              <a:t> </a:t>
            </a:r>
            <a:r>
              <a:rPr sz="1350" spc="55" dirty="0">
                <a:latin typeface="Calibri"/>
                <a:cs typeface="Calibri"/>
              </a:rPr>
              <a:t>incomplete.</a:t>
            </a:r>
            <a:r>
              <a:rPr sz="1350" spc="75" dirty="0">
                <a:latin typeface="Calibri"/>
                <a:cs typeface="Calibri"/>
              </a:rPr>
              <a:t> </a:t>
            </a:r>
            <a:r>
              <a:rPr sz="1350" dirty="0">
                <a:latin typeface="Calibri"/>
                <a:cs typeface="Calibri"/>
              </a:rPr>
              <a:t>No</a:t>
            </a:r>
            <a:r>
              <a:rPr sz="1350" spc="70" dirty="0">
                <a:latin typeface="Calibri"/>
                <a:cs typeface="Calibri"/>
              </a:rPr>
              <a:t> </a:t>
            </a:r>
            <a:r>
              <a:rPr sz="1350" dirty="0">
                <a:latin typeface="Calibri"/>
                <a:cs typeface="Calibri"/>
              </a:rPr>
              <a:t>proof</a:t>
            </a:r>
            <a:r>
              <a:rPr sz="1350" spc="45" dirty="0">
                <a:latin typeface="Calibri"/>
                <a:cs typeface="Calibri"/>
              </a:rPr>
              <a:t> </a:t>
            </a:r>
            <a:r>
              <a:rPr sz="1350" spc="50" dirty="0">
                <a:latin typeface="Calibri"/>
                <a:cs typeface="Calibri"/>
              </a:rPr>
              <a:t>=</a:t>
            </a:r>
            <a:r>
              <a:rPr sz="1350" spc="15" dirty="0">
                <a:latin typeface="Calibri"/>
                <a:cs typeface="Calibri"/>
              </a:rPr>
              <a:t> </a:t>
            </a:r>
            <a:r>
              <a:rPr sz="1350" spc="50" dirty="0">
                <a:latin typeface="Calibri"/>
                <a:cs typeface="Calibri"/>
              </a:rPr>
              <a:t>incomplete.</a:t>
            </a:r>
            <a:r>
              <a:rPr sz="1350" spc="75" dirty="0">
                <a:latin typeface="Calibri"/>
                <a:cs typeface="Calibri"/>
              </a:rPr>
              <a:t> </a:t>
            </a:r>
            <a:r>
              <a:rPr sz="1350" spc="55" dirty="0">
                <a:latin typeface="Calibri"/>
                <a:cs typeface="Calibri"/>
              </a:rPr>
              <a:t>This</a:t>
            </a:r>
            <a:r>
              <a:rPr sz="1350" spc="5" dirty="0">
                <a:latin typeface="Calibri"/>
                <a:cs typeface="Calibri"/>
              </a:rPr>
              <a:t> </a:t>
            </a:r>
            <a:r>
              <a:rPr sz="1350" spc="85" dirty="0">
                <a:latin typeface="Calibri"/>
                <a:cs typeface="Calibri"/>
              </a:rPr>
              <a:t>is</a:t>
            </a:r>
            <a:r>
              <a:rPr sz="1350" spc="5" dirty="0">
                <a:latin typeface="Calibri"/>
                <a:cs typeface="Calibri"/>
              </a:rPr>
              <a:t> </a:t>
            </a:r>
            <a:r>
              <a:rPr sz="1350" dirty="0">
                <a:latin typeface="Calibri"/>
                <a:cs typeface="Calibri"/>
              </a:rPr>
              <a:t>the</a:t>
            </a:r>
            <a:r>
              <a:rPr sz="1350" spc="30" dirty="0">
                <a:latin typeface="Calibri"/>
                <a:cs typeface="Calibri"/>
              </a:rPr>
              <a:t> </a:t>
            </a:r>
            <a:r>
              <a:rPr sz="1350" spc="60" dirty="0">
                <a:latin typeface="Calibri"/>
                <a:cs typeface="Calibri"/>
              </a:rPr>
              <a:t>one</a:t>
            </a:r>
            <a:r>
              <a:rPr sz="1350" spc="30" dirty="0">
                <a:latin typeface="Calibri"/>
                <a:cs typeface="Calibri"/>
              </a:rPr>
              <a:t> </a:t>
            </a:r>
            <a:r>
              <a:rPr sz="1350" dirty="0">
                <a:latin typeface="Calibri"/>
                <a:cs typeface="Calibri"/>
              </a:rPr>
              <a:t>rule</a:t>
            </a:r>
            <a:r>
              <a:rPr sz="1350" spc="110" dirty="0">
                <a:latin typeface="Calibri"/>
                <a:cs typeface="Calibri"/>
              </a:rPr>
              <a:t> </a:t>
            </a:r>
            <a:r>
              <a:rPr sz="1350" dirty="0">
                <a:latin typeface="Calibri"/>
                <a:cs typeface="Calibri"/>
              </a:rPr>
              <a:t>with</a:t>
            </a:r>
            <a:r>
              <a:rPr sz="1350" spc="-15" dirty="0">
                <a:latin typeface="Calibri"/>
                <a:cs typeface="Calibri"/>
              </a:rPr>
              <a:t> </a:t>
            </a:r>
            <a:r>
              <a:rPr sz="1350" dirty="0">
                <a:latin typeface="Calibri"/>
                <a:cs typeface="Calibri"/>
              </a:rPr>
              <a:t>zero</a:t>
            </a:r>
            <a:r>
              <a:rPr sz="1350" spc="70" dirty="0">
                <a:latin typeface="Calibri"/>
                <a:cs typeface="Calibri"/>
              </a:rPr>
              <a:t> </a:t>
            </a:r>
            <a:r>
              <a:rPr sz="1350" spc="-10" dirty="0">
                <a:latin typeface="Calibri"/>
                <a:cs typeface="Calibri"/>
              </a:rPr>
              <a:t>flexibility.</a:t>
            </a:r>
            <a:endParaRPr sz="135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970" rIns="0" bIns="0" rtlCol="0">
            <a:spAutoFit/>
          </a:bodyPr>
          <a:lstStyle/>
          <a:p>
            <a:pPr marL="12700">
              <a:lnSpc>
                <a:spcPct val="100000"/>
              </a:lnSpc>
              <a:spcBef>
                <a:spcPts val="110"/>
              </a:spcBef>
            </a:pPr>
            <a:r>
              <a:rPr sz="2800" spc="55" dirty="0"/>
              <a:t>Your</a:t>
            </a:r>
            <a:r>
              <a:rPr sz="2800" spc="-80" dirty="0"/>
              <a:t> </a:t>
            </a:r>
            <a:r>
              <a:rPr sz="2800" spc="114" dirty="0"/>
              <a:t>Problem</a:t>
            </a:r>
            <a:r>
              <a:rPr sz="2800" spc="-25" dirty="0"/>
              <a:t> </a:t>
            </a:r>
            <a:r>
              <a:rPr sz="2800" spc="110" dirty="0"/>
              <a:t>Statement</a:t>
            </a:r>
            <a:endParaRPr sz="2800"/>
          </a:p>
        </p:txBody>
      </p:sp>
      <p:sp>
        <p:nvSpPr>
          <p:cNvPr id="3" name="object 3"/>
          <p:cNvSpPr txBox="1"/>
          <p:nvPr/>
        </p:nvSpPr>
        <p:spPr>
          <a:xfrm>
            <a:off x="782827" y="1558480"/>
            <a:ext cx="238887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1.</a:t>
            </a:r>
            <a:r>
              <a:rPr sz="1800" spc="470" dirty="0">
                <a:latin typeface="Calibri"/>
                <a:cs typeface="Calibri"/>
              </a:rPr>
              <a:t> </a:t>
            </a:r>
            <a:r>
              <a:rPr sz="1800" dirty="0">
                <a:latin typeface="Calibri"/>
                <a:cs typeface="Calibri"/>
              </a:rPr>
              <a:t>What</a:t>
            </a:r>
            <a:r>
              <a:rPr sz="1800" spc="-10" dirty="0">
                <a:latin typeface="Calibri"/>
                <a:cs typeface="Calibri"/>
              </a:rPr>
              <a:t> </a:t>
            </a:r>
            <a:r>
              <a:rPr sz="1800" spc="90" dirty="0">
                <a:latin typeface="Calibri"/>
                <a:cs typeface="Calibri"/>
              </a:rPr>
              <a:t>is</a:t>
            </a:r>
            <a:r>
              <a:rPr sz="1800" spc="-20" dirty="0">
                <a:latin typeface="Calibri"/>
                <a:cs typeface="Calibri"/>
              </a:rPr>
              <a:t> </a:t>
            </a:r>
            <a:r>
              <a:rPr sz="1800" dirty="0">
                <a:latin typeface="Calibri"/>
                <a:cs typeface="Calibri"/>
              </a:rPr>
              <a:t>the</a:t>
            </a:r>
            <a:r>
              <a:rPr sz="1800" spc="-20" dirty="0">
                <a:latin typeface="Calibri"/>
                <a:cs typeface="Calibri"/>
              </a:rPr>
              <a:t> </a:t>
            </a:r>
            <a:r>
              <a:rPr sz="1800" spc="-10" dirty="0">
                <a:latin typeface="Calibri"/>
                <a:cs typeface="Calibri"/>
              </a:rPr>
              <a:t>Problem?</a:t>
            </a:r>
            <a:endParaRPr sz="1800">
              <a:latin typeface="Calibri"/>
              <a:cs typeface="Calibri"/>
            </a:endParaRPr>
          </a:p>
        </p:txBody>
      </p:sp>
      <p:sp>
        <p:nvSpPr>
          <p:cNvPr id="8" name="TextBox 7">
            <a:extLst>
              <a:ext uri="{FF2B5EF4-FFF2-40B4-BE49-F238E27FC236}">
                <a16:creationId xmlns:a16="http://schemas.microsoft.com/office/drawing/2014/main" id="{3DB394F0-C891-FAD5-902C-CB7F5F9EFC77}"/>
              </a:ext>
            </a:extLst>
          </p:cNvPr>
          <p:cNvSpPr txBox="1"/>
          <p:nvPr/>
        </p:nvSpPr>
        <p:spPr>
          <a:xfrm>
            <a:off x="780369" y="2967841"/>
            <a:ext cx="10875773" cy="2554545"/>
          </a:xfrm>
          <a:prstGeom prst="rect">
            <a:avLst/>
          </a:prstGeom>
          <a:noFill/>
        </p:spPr>
        <p:txBody>
          <a:bodyPr wrap="square" rtlCol="0">
            <a:spAutoFit/>
          </a:bodyPr>
          <a:lstStyle/>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Dietary habits of school children will require a strong foundation. Many of them are attracted to colourful packaged food and junk food. School canteens have a major role in breaking this bad habit. School canteens should offer healthy food. </a:t>
            </a:r>
          </a:p>
          <a:p>
            <a:pPr marL="342900" indent="-34290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Not only my school canteen but most of the canteens in various schools do not have easily(quickly) eatable and tasty healthy eating options. This indirectly has built the habit of children to eat junk food. This is what I saw. Hence, we decided to make healthy, tasty, easily(quickly) eatable food items available in the canteen menu.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7620" rIns="0" bIns="0" rtlCol="0">
            <a:spAutoFit/>
          </a:bodyPr>
          <a:lstStyle/>
          <a:p>
            <a:pPr marL="98425" marR="5080" indent="288290">
              <a:lnSpc>
                <a:spcPct val="102299"/>
              </a:lnSpc>
              <a:spcBef>
                <a:spcPts val="60"/>
              </a:spcBef>
            </a:pPr>
            <a:r>
              <a:rPr dirty="0">
                <a:solidFill>
                  <a:srgbClr val="2D75B6"/>
                </a:solidFill>
              </a:rPr>
              <a:t>Before</a:t>
            </a:r>
            <a:r>
              <a:rPr spc="75" dirty="0">
                <a:solidFill>
                  <a:srgbClr val="2D75B6"/>
                </a:solidFill>
              </a:rPr>
              <a:t> </a:t>
            </a:r>
            <a:r>
              <a:rPr dirty="0">
                <a:solidFill>
                  <a:srgbClr val="2D75B6"/>
                </a:solidFill>
              </a:rPr>
              <a:t>Observation:</a:t>
            </a:r>
            <a:r>
              <a:rPr spc="40" dirty="0">
                <a:solidFill>
                  <a:srgbClr val="2D75B6"/>
                </a:solidFill>
              </a:rPr>
              <a:t> </a:t>
            </a:r>
            <a:r>
              <a:rPr dirty="0">
                <a:solidFill>
                  <a:srgbClr val="2D75B6"/>
                </a:solidFill>
              </a:rPr>
              <a:t>Why</a:t>
            </a:r>
            <a:r>
              <a:rPr spc="80" dirty="0">
                <a:solidFill>
                  <a:srgbClr val="2D75B6"/>
                </a:solidFill>
              </a:rPr>
              <a:t> </a:t>
            </a:r>
            <a:r>
              <a:rPr dirty="0">
                <a:solidFill>
                  <a:srgbClr val="2D75B6"/>
                </a:solidFill>
              </a:rPr>
              <a:t>does</a:t>
            </a:r>
            <a:r>
              <a:rPr spc="40" dirty="0">
                <a:solidFill>
                  <a:srgbClr val="2D75B6"/>
                </a:solidFill>
              </a:rPr>
              <a:t> </a:t>
            </a:r>
            <a:r>
              <a:rPr dirty="0">
                <a:solidFill>
                  <a:srgbClr val="2D75B6"/>
                </a:solidFill>
              </a:rPr>
              <a:t>it</a:t>
            </a:r>
            <a:r>
              <a:rPr spc="90" dirty="0">
                <a:solidFill>
                  <a:srgbClr val="2D75B6"/>
                </a:solidFill>
              </a:rPr>
              <a:t> </a:t>
            </a:r>
            <a:r>
              <a:rPr spc="-10" dirty="0">
                <a:solidFill>
                  <a:srgbClr val="2D75B6"/>
                </a:solidFill>
              </a:rPr>
              <a:t>happen </a:t>
            </a:r>
            <a:r>
              <a:rPr dirty="0">
                <a:solidFill>
                  <a:srgbClr val="2D75B6"/>
                </a:solidFill>
              </a:rPr>
              <a:t>Before</a:t>
            </a:r>
            <a:r>
              <a:rPr spc="60" dirty="0">
                <a:solidFill>
                  <a:srgbClr val="2D75B6"/>
                </a:solidFill>
              </a:rPr>
              <a:t> </a:t>
            </a:r>
            <a:r>
              <a:rPr dirty="0">
                <a:solidFill>
                  <a:srgbClr val="2D75B6"/>
                </a:solidFill>
              </a:rPr>
              <a:t>Number</a:t>
            </a:r>
            <a:r>
              <a:rPr spc="65" dirty="0">
                <a:solidFill>
                  <a:srgbClr val="2D75B6"/>
                </a:solidFill>
              </a:rPr>
              <a:t> </a:t>
            </a:r>
            <a:r>
              <a:rPr dirty="0">
                <a:solidFill>
                  <a:srgbClr val="2D75B6"/>
                </a:solidFill>
              </a:rPr>
              <a:t>|</a:t>
            </a:r>
            <a:r>
              <a:rPr spc="65" dirty="0">
                <a:solidFill>
                  <a:srgbClr val="2D75B6"/>
                </a:solidFill>
              </a:rPr>
              <a:t> </a:t>
            </a:r>
            <a:r>
              <a:rPr dirty="0">
                <a:solidFill>
                  <a:srgbClr val="2D75B6"/>
                </a:solidFill>
              </a:rPr>
              <a:t>Photographs,</a:t>
            </a:r>
            <a:r>
              <a:rPr spc="75" dirty="0">
                <a:solidFill>
                  <a:srgbClr val="2D75B6"/>
                </a:solidFill>
              </a:rPr>
              <a:t> </a:t>
            </a:r>
            <a:r>
              <a:rPr dirty="0">
                <a:solidFill>
                  <a:srgbClr val="2D75B6"/>
                </a:solidFill>
              </a:rPr>
              <a:t>video</a:t>
            </a:r>
            <a:r>
              <a:rPr spc="65" dirty="0">
                <a:solidFill>
                  <a:srgbClr val="2D75B6"/>
                </a:solidFill>
              </a:rPr>
              <a:t> </a:t>
            </a:r>
            <a:r>
              <a:rPr dirty="0">
                <a:solidFill>
                  <a:srgbClr val="2D75B6"/>
                </a:solidFill>
              </a:rPr>
              <a:t>or</a:t>
            </a:r>
            <a:r>
              <a:rPr spc="60" dirty="0">
                <a:solidFill>
                  <a:srgbClr val="2D75B6"/>
                </a:solidFill>
              </a:rPr>
              <a:t> </a:t>
            </a:r>
            <a:r>
              <a:rPr spc="-10" dirty="0">
                <a:solidFill>
                  <a:srgbClr val="2D75B6"/>
                </a:solidFill>
              </a:rPr>
              <a:t>Links</a:t>
            </a:r>
          </a:p>
        </p:txBody>
      </p:sp>
      <p:sp>
        <p:nvSpPr>
          <p:cNvPr id="4" name="TextBox 3">
            <a:extLst>
              <a:ext uri="{FF2B5EF4-FFF2-40B4-BE49-F238E27FC236}">
                <a16:creationId xmlns:a16="http://schemas.microsoft.com/office/drawing/2014/main" id="{A6DA1140-5F99-E287-68B2-C0B2B312D759}"/>
              </a:ext>
            </a:extLst>
          </p:cNvPr>
          <p:cNvSpPr txBox="1"/>
          <p:nvPr/>
        </p:nvSpPr>
        <p:spPr>
          <a:xfrm>
            <a:off x="533400" y="990600"/>
            <a:ext cx="10820400" cy="1754326"/>
          </a:xfrm>
          <a:prstGeom prst="rect">
            <a:avLst/>
          </a:prstGeom>
          <a:noFill/>
        </p:spPr>
        <p:txBody>
          <a:bodyPr wrap="square" rtlCol="0">
            <a:spAutoFit/>
          </a:bodyPr>
          <a:lstStyle/>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Students want to have tasty and quickly eatable food items and Sip-Ups at canteens. In order to cater to students’ likes the following food items were available in canteen. Many of them are not healthy options. They contain lot of oil and carbohydrates. These food items were apart from other healthy options like: sandwich, dosa, </a:t>
            </a:r>
            <a:r>
              <a:rPr lang="en-IN" dirty="0" err="1">
                <a:latin typeface="Times New Roman" panose="02020603050405020304" pitchFamily="18" charset="0"/>
                <a:cs typeface="Times New Roman" panose="02020603050405020304" pitchFamily="18" charset="0"/>
              </a:rPr>
              <a:t>idli</a:t>
            </a:r>
            <a:r>
              <a:rPr lang="en-IN" dirty="0">
                <a:latin typeface="Times New Roman" panose="02020603050405020304" pitchFamily="18" charset="0"/>
                <a:cs typeface="Times New Roman" panose="02020603050405020304" pitchFamily="18" charset="0"/>
              </a:rPr>
              <a:t>, rice, chapati.</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I noticed the following food items were eaten as snacks. So snacking habit and food options had to be changed. Main meals available in the canteen was healthy. I wanted to make snacking also healthy and tasty</a:t>
            </a:r>
          </a:p>
        </p:txBody>
      </p:sp>
      <p:graphicFrame>
        <p:nvGraphicFramePr>
          <p:cNvPr id="6" name="Content Placeholder 3">
            <a:extLst>
              <a:ext uri="{FF2B5EF4-FFF2-40B4-BE49-F238E27FC236}">
                <a16:creationId xmlns:a16="http://schemas.microsoft.com/office/drawing/2014/main" id="{45D793A4-95F1-6171-203A-0467DF25BEA0}"/>
              </a:ext>
            </a:extLst>
          </p:cNvPr>
          <p:cNvGraphicFramePr>
            <a:graphicFrameLocks/>
          </p:cNvGraphicFramePr>
          <p:nvPr>
            <p:extLst>
              <p:ext uri="{D42A27DB-BD31-4B8C-83A1-F6EECF244321}">
                <p14:modId xmlns:p14="http://schemas.microsoft.com/office/powerpoint/2010/main" val="2172954784"/>
              </p:ext>
            </p:extLst>
          </p:nvPr>
        </p:nvGraphicFramePr>
        <p:xfrm>
          <a:off x="609600" y="3048000"/>
          <a:ext cx="10058397" cy="1854200"/>
        </p:xfrm>
        <a:graphic>
          <a:graphicData uri="http://schemas.openxmlformats.org/drawingml/2006/table">
            <a:tbl>
              <a:tblPr firstRow="1" bandRow="1">
                <a:tableStyleId>{5C22544A-7EE6-4342-B048-85BDC9FD1C3A}</a:tableStyleId>
              </a:tblPr>
              <a:tblGrid>
                <a:gridCol w="3352799">
                  <a:extLst>
                    <a:ext uri="{9D8B030D-6E8A-4147-A177-3AD203B41FA5}">
                      <a16:colId xmlns:a16="http://schemas.microsoft.com/office/drawing/2014/main" val="455898031"/>
                    </a:ext>
                  </a:extLst>
                </a:gridCol>
                <a:gridCol w="3352799">
                  <a:extLst>
                    <a:ext uri="{9D8B030D-6E8A-4147-A177-3AD203B41FA5}">
                      <a16:colId xmlns:a16="http://schemas.microsoft.com/office/drawing/2014/main" val="2137707581"/>
                    </a:ext>
                  </a:extLst>
                </a:gridCol>
                <a:gridCol w="3352799">
                  <a:extLst>
                    <a:ext uri="{9D8B030D-6E8A-4147-A177-3AD203B41FA5}">
                      <a16:colId xmlns:a16="http://schemas.microsoft.com/office/drawing/2014/main" val="4186784402"/>
                    </a:ext>
                  </a:extLst>
                </a:gridCol>
              </a:tblGrid>
              <a:tr h="370840">
                <a:tc>
                  <a:txBody>
                    <a:bodyPr/>
                    <a:lstStyle/>
                    <a:p>
                      <a:r>
                        <a:rPr lang="en-IN" dirty="0"/>
                        <a:t>Name of food item</a:t>
                      </a:r>
                    </a:p>
                  </a:txBody>
                  <a:tcPr/>
                </a:tc>
                <a:tc>
                  <a:txBody>
                    <a:bodyPr/>
                    <a:lstStyle/>
                    <a:p>
                      <a:r>
                        <a:rPr lang="en-IN" dirty="0"/>
                        <a:t>Quantity produced</a:t>
                      </a:r>
                    </a:p>
                  </a:txBody>
                  <a:tcPr/>
                </a:tc>
                <a:tc>
                  <a:txBody>
                    <a:bodyPr/>
                    <a:lstStyle/>
                    <a:p>
                      <a:r>
                        <a:rPr lang="en-IN" dirty="0"/>
                        <a:t>Quantity sold</a:t>
                      </a:r>
                    </a:p>
                  </a:txBody>
                  <a:tcPr/>
                </a:tc>
                <a:extLst>
                  <a:ext uri="{0D108BD9-81ED-4DB2-BD59-A6C34878D82A}">
                    <a16:rowId xmlns:a16="http://schemas.microsoft.com/office/drawing/2014/main" val="1550652727"/>
                  </a:ext>
                </a:extLst>
              </a:tr>
              <a:tr h="370840">
                <a:tc>
                  <a:txBody>
                    <a:bodyPr/>
                    <a:lstStyle/>
                    <a:p>
                      <a:r>
                        <a:rPr lang="en-IN" dirty="0"/>
                        <a:t>Samosa</a:t>
                      </a:r>
                    </a:p>
                  </a:txBody>
                  <a:tcPr/>
                </a:tc>
                <a:tc>
                  <a:txBody>
                    <a:bodyPr/>
                    <a:lstStyle/>
                    <a:p>
                      <a:r>
                        <a:rPr lang="en-IN" dirty="0"/>
                        <a:t>95-100</a:t>
                      </a:r>
                    </a:p>
                  </a:txBody>
                  <a:tcPr/>
                </a:tc>
                <a:tc>
                  <a:txBody>
                    <a:bodyPr/>
                    <a:lstStyle/>
                    <a:p>
                      <a:r>
                        <a:rPr lang="en-IN" dirty="0"/>
                        <a:t>95-100</a:t>
                      </a:r>
                    </a:p>
                  </a:txBody>
                  <a:tcPr/>
                </a:tc>
                <a:extLst>
                  <a:ext uri="{0D108BD9-81ED-4DB2-BD59-A6C34878D82A}">
                    <a16:rowId xmlns:a16="http://schemas.microsoft.com/office/drawing/2014/main" val="3404355622"/>
                  </a:ext>
                </a:extLst>
              </a:tr>
              <a:tr h="370840">
                <a:tc>
                  <a:txBody>
                    <a:bodyPr/>
                    <a:lstStyle/>
                    <a:p>
                      <a:r>
                        <a:rPr lang="en-IN" dirty="0"/>
                        <a:t>Veg Puff</a:t>
                      </a:r>
                    </a:p>
                  </a:txBody>
                  <a:tcPr/>
                </a:tc>
                <a:tc>
                  <a:txBody>
                    <a:bodyPr/>
                    <a:lstStyle/>
                    <a:p>
                      <a:r>
                        <a:rPr lang="en-IN" dirty="0"/>
                        <a:t>50</a:t>
                      </a:r>
                    </a:p>
                  </a:txBody>
                  <a:tcPr/>
                </a:tc>
                <a:tc>
                  <a:txBody>
                    <a:bodyPr/>
                    <a:lstStyle/>
                    <a:p>
                      <a:r>
                        <a:rPr lang="en-IN" dirty="0"/>
                        <a:t>50</a:t>
                      </a:r>
                    </a:p>
                  </a:txBody>
                  <a:tcPr/>
                </a:tc>
                <a:extLst>
                  <a:ext uri="{0D108BD9-81ED-4DB2-BD59-A6C34878D82A}">
                    <a16:rowId xmlns:a16="http://schemas.microsoft.com/office/drawing/2014/main" val="593437204"/>
                  </a:ext>
                </a:extLst>
              </a:tr>
              <a:tr h="370840">
                <a:tc>
                  <a:txBody>
                    <a:bodyPr/>
                    <a:lstStyle/>
                    <a:p>
                      <a:r>
                        <a:rPr lang="en-IN" dirty="0"/>
                        <a:t>Bread </a:t>
                      </a:r>
                      <a:r>
                        <a:rPr lang="en-IN" dirty="0" err="1"/>
                        <a:t>Pakoda</a:t>
                      </a:r>
                      <a:endParaRPr lang="en-IN" dirty="0"/>
                    </a:p>
                  </a:txBody>
                  <a:tcPr/>
                </a:tc>
                <a:tc>
                  <a:txBody>
                    <a:bodyPr/>
                    <a:lstStyle/>
                    <a:p>
                      <a:r>
                        <a:rPr lang="en-IN" dirty="0"/>
                        <a:t>40</a:t>
                      </a:r>
                    </a:p>
                  </a:txBody>
                  <a:tcPr/>
                </a:tc>
                <a:tc>
                  <a:txBody>
                    <a:bodyPr/>
                    <a:lstStyle/>
                    <a:p>
                      <a:r>
                        <a:rPr lang="en-IN" dirty="0"/>
                        <a:t>40</a:t>
                      </a:r>
                    </a:p>
                  </a:txBody>
                  <a:tcPr/>
                </a:tc>
                <a:extLst>
                  <a:ext uri="{0D108BD9-81ED-4DB2-BD59-A6C34878D82A}">
                    <a16:rowId xmlns:a16="http://schemas.microsoft.com/office/drawing/2014/main" val="2129893014"/>
                  </a:ext>
                </a:extLst>
              </a:tr>
              <a:tr h="370840">
                <a:tc>
                  <a:txBody>
                    <a:bodyPr/>
                    <a:lstStyle/>
                    <a:p>
                      <a:r>
                        <a:rPr lang="en-IN" dirty="0"/>
                        <a:t>Sip-Ups</a:t>
                      </a:r>
                    </a:p>
                  </a:txBody>
                  <a:tcPr/>
                </a:tc>
                <a:tc>
                  <a:txBody>
                    <a:bodyPr/>
                    <a:lstStyle/>
                    <a:p>
                      <a:r>
                        <a:rPr lang="en-IN" dirty="0"/>
                        <a:t>400</a:t>
                      </a:r>
                    </a:p>
                  </a:txBody>
                  <a:tcPr/>
                </a:tc>
                <a:tc>
                  <a:txBody>
                    <a:bodyPr/>
                    <a:lstStyle/>
                    <a:p>
                      <a:r>
                        <a:rPr lang="en-IN" dirty="0"/>
                        <a:t>400</a:t>
                      </a:r>
                    </a:p>
                  </a:txBody>
                  <a:tcPr/>
                </a:tc>
                <a:extLst>
                  <a:ext uri="{0D108BD9-81ED-4DB2-BD59-A6C34878D82A}">
                    <a16:rowId xmlns:a16="http://schemas.microsoft.com/office/drawing/2014/main" val="419237617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128136" y="109283"/>
            <a:ext cx="5728970" cy="717550"/>
          </a:xfrm>
          <a:prstGeom prst="rect">
            <a:avLst/>
          </a:prstGeom>
        </p:spPr>
        <p:txBody>
          <a:bodyPr vert="horz" wrap="square" lIns="0" tIns="15875" rIns="0" bIns="0" rtlCol="0">
            <a:spAutoFit/>
          </a:bodyPr>
          <a:lstStyle/>
          <a:p>
            <a:pPr algn="ctr">
              <a:lnSpc>
                <a:spcPts val="2705"/>
              </a:lnSpc>
              <a:spcBef>
                <a:spcPts val="125"/>
              </a:spcBef>
            </a:pPr>
            <a:r>
              <a:rPr dirty="0"/>
              <a:t>Before</a:t>
            </a:r>
            <a:r>
              <a:rPr spc="80" dirty="0"/>
              <a:t> </a:t>
            </a:r>
            <a:r>
              <a:rPr dirty="0"/>
              <a:t>Observation:</a:t>
            </a:r>
            <a:r>
              <a:rPr spc="30" dirty="0"/>
              <a:t> </a:t>
            </a:r>
            <a:r>
              <a:rPr dirty="0"/>
              <a:t>Why</a:t>
            </a:r>
            <a:r>
              <a:rPr spc="30" dirty="0"/>
              <a:t> </a:t>
            </a:r>
            <a:r>
              <a:rPr spc="65" dirty="0"/>
              <a:t>does</a:t>
            </a:r>
            <a:r>
              <a:rPr spc="95" dirty="0"/>
              <a:t> </a:t>
            </a:r>
            <a:r>
              <a:rPr dirty="0"/>
              <a:t>it</a:t>
            </a:r>
            <a:r>
              <a:rPr spc="10" dirty="0"/>
              <a:t> </a:t>
            </a:r>
            <a:r>
              <a:rPr spc="-10" dirty="0"/>
              <a:t>happen</a:t>
            </a:r>
          </a:p>
          <a:p>
            <a:pPr algn="ctr">
              <a:lnSpc>
                <a:spcPts val="2705"/>
              </a:lnSpc>
            </a:pPr>
            <a:r>
              <a:rPr dirty="0"/>
              <a:t>Before</a:t>
            </a:r>
            <a:r>
              <a:rPr spc="100" dirty="0"/>
              <a:t> </a:t>
            </a:r>
            <a:r>
              <a:rPr dirty="0"/>
              <a:t>Number</a:t>
            </a:r>
            <a:r>
              <a:rPr spc="85" dirty="0"/>
              <a:t> </a:t>
            </a:r>
            <a:r>
              <a:rPr spc="-525" dirty="0"/>
              <a:t>|</a:t>
            </a:r>
            <a:r>
              <a:rPr spc="85" dirty="0"/>
              <a:t> </a:t>
            </a:r>
            <a:r>
              <a:rPr dirty="0"/>
              <a:t>Photographs,</a:t>
            </a:r>
            <a:r>
              <a:rPr spc="60" dirty="0"/>
              <a:t> </a:t>
            </a:r>
            <a:r>
              <a:rPr dirty="0"/>
              <a:t>video</a:t>
            </a:r>
            <a:r>
              <a:rPr spc="65" dirty="0"/>
              <a:t> </a:t>
            </a:r>
            <a:r>
              <a:rPr dirty="0"/>
              <a:t>or</a:t>
            </a:r>
            <a:r>
              <a:rPr spc="85" dirty="0"/>
              <a:t> </a:t>
            </a:r>
            <a:r>
              <a:rPr spc="70" dirty="0"/>
              <a:t>Links</a:t>
            </a:r>
          </a:p>
        </p:txBody>
      </p:sp>
      <p:pic>
        <p:nvPicPr>
          <p:cNvPr id="5" name="Picture 4">
            <a:extLst>
              <a:ext uri="{FF2B5EF4-FFF2-40B4-BE49-F238E27FC236}">
                <a16:creationId xmlns:a16="http://schemas.microsoft.com/office/drawing/2014/main" id="{273F74FE-889D-AFD1-3AF5-D95A951606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819150"/>
            <a:ext cx="4648200" cy="3486150"/>
          </a:xfrm>
          <a:prstGeom prst="rect">
            <a:avLst/>
          </a:prstGeom>
        </p:spPr>
      </p:pic>
      <p:pic>
        <p:nvPicPr>
          <p:cNvPr id="7" name="Picture 6">
            <a:extLst>
              <a:ext uri="{FF2B5EF4-FFF2-40B4-BE49-F238E27FC236}">
                <a16:creationId xmlns:a16="http://schemas.microsoft.com/office/drawing/2014/main" id="{93CBC416-6551-685E-D684-D51A03A583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00" y="2527812"/>
            <a:ext cx="4264533" cy="3200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232530" y="109283"/>
            <a:ext cx="5507355" cy="717550"/>
          </a:xfrm>
          <a:prstGeom prst="rect">
            <a:avLst/>
          </a:prstGeom>
        </p:spPr>
        <p:txBody>
          <a:bodyPr vert="horz" wrap="square" lIns="0" tIns="15875" rIns="0" bIns="0" rtlCol="0">
            <a:spAutoFit/>
          </a:bodyPr>
          <a:lstStyle/>
          <a:p>
            <a:pPr marL="4445" algn="ctr">
              <a:lnSpc>
                <a:spcPts val="2705"/>
              </a:lnSpc>
              <a:spcBef>
                <a:spcPts val="125"/>
              </a:spcBef>
            </a:pPr>
            <a:r>
              <a:rPr dirty="0"/>
              <a:t>After</a:t>
            </a:r>
            <a:r>
              <a:rPr spc="40" dirty="0"/>
              <a:t> </a:t>
            </a:r>
            <a:r>
              <a:rPr dirty="0"/>
              <a:t>Observation:</a:t>
            </a:r>
            <a:r>
              <a:rPr spc="10" dirty="0"/>
              <a:t> </a:t>
            </a:r>
            <a:r>
              <a:rPr dirty="0"/>
              <a:t>Why</a:t>
            </a:r>
            <a:r>
              <a:rPr spc="10" dirty="0"/>
              <a:t> </a:t>
            </a:r>
            <a:r>
              <a:rPr spc="65" dirty="0"/>
              <a:t>does</a:t>
            </a:r>
            <a:r>
              <a:rPr spc="75" dirty="0"/>
              <a:t> </a:t>
            </a:r>
            <a:r>
              <a:rPr dirty="0"/>
              <a:t>it</a:t>
            </a:r>
            <a:r>
              <a:rPr spc="-10" dirty="0"/>
              <a:t> happen</a:t>
            </a:r>
          </a:p>
          <a:p>
            <a:pPr algn="ctr">
              <a:lnSpc>
                <a:spcPts val="2705"/>
              </a:lnSpc>
            </a:pPr>
            <a:r>
              <a:rPr dirty="0"/>
              <a:t>After</a:t>
            </a:r>
            <a:r>
              <a:rPr spc="35" dirty="0"/>
              <a:t> </a:t>
            </a:r>
            <a:r>
              <a:rPr dirty="0"/>
              <a:t>Number</a:t>
            </a:r>
            <a:r>
              <a:rPr spc="45" dirty="0"/>
              <a:t> </a:t>
            </a:r>
            <a:r>
              <a:rPr spc="-525" dirty="0"/>
              <a:t>|</a:t>
            </a:r>
            <a:r>
              <a:rPr spc="40" dirty="0"/>
              <a:t> </a:t>
            </a:r>
            <a:r>
              <a:rPr dirty="0"/>
              <a:t>Photographs,</a:t>
            </a:r>
            <a:r>
              <a:rPr spc="15" dirty="0"/>
              <a:t> </a:t>
            </a:r>
            <a:r>
              <a:rPr dirty="0"/>
              <a:t>video</a:t>
            </a:r>
            <a:r>
              <a:rPr spc="110" dirty="0"/>
              <a:t> </a:t>
            </a:r>
            <a:r>
              <a:rPr dirty="0"/>
              <a:t>or</a:t>
            </a:r>
            <a:r>
              <a:rPr spc="40" dirty="0"/>
              <a:t> </a:t>
            </a:r>
            <a:r>
              <a:rPr spc="70" dirty="0"/>
              <a:t>Links</a:t>
            </a:r>
          </a:p>
        </p:txBody>
      </p:sp>
      <p:sp>
        <p:nvSpPr>
          <p:cNvPr id="3" name="object 3"/>
          <p:cNvSpPr txBox="1"/>
          <p:nvPr/>
        </p:nvSpPr>
        <p:spPr>
          <a:xfrm>
            <a:off x="3199638" y="6344272"/>
            <a:ext cx="5712460" cy="300355"/>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You</a:t>
            </a:r>
            <a:r>
              <a:rPr sz="1800" b="1" spc="20" dirty="0">
                <a:latin typeface="Calibri"/>
                <a:cs typeface="Calibri"/>
              </a:rPr>
              <a:t> </a:t>
            </a:r>
            <a:r>
              <a:rPr sz="1800" b="1" spc="120" dirty="0">
                <a:latin typeface="Calibri"/>
                <a:cs typeface="Calibri"/>
              </a:rPr>
              <a:t>can</a:t>
            </a:r>
            <a:r>
              <a:rPr sz="1800" b="1" spc="30" dirty="0">
                <a:latin typeface="Calibri"/>
                <a:cs typeface="Calibri"/>
              </a:rPr>
              <a:t> </a:t>
            </a:r>
            <a:r>
              <a:rPr sz="1800" b="1" spc="75" dirty="0">
                <a:latin typeface="Calibri"/>
                <a:cs typeface="Calibri"/>
              </a:rPr>
              <a:t>add</a:t>
            </a:r>
            <a:r>
              <a:rPr sz="1800" b="1" spc="-60" dirty="0">
                <a:latin typeface="Calibri"/>
                <a:cs typeface="Calibri"/>
              </a:rPr>
              <a:t> </a:t>
            </a:r>
            <a:r>
              <a:rPr sz="1800" b="1" spc="80" dirty="0">
                <a:latin typeface="Calibri"/>
                <a:cs typeface="Calibri"/>
              </a:rPr>
              <a:t>more</a:t>
            </a:r>
            <a:r>
              <a:rPr sz="1800" b="1" spc="-5" dirty="0">
                <a:latin typeface="Calibri"/>
                <a:cs typeface="Calibri"/>
              </a:rPr>
              <a:t> </a:t>
            </a:r>
            <a:r>
              <a:rPr sz="1800" b="1" spc="110" dirty="0">
                <a:latin typeface="Calibri"/>
                <a:cs typeface="Calibri"/>
              </a:rPr>
              <a:t>slides</a:t>
            </a:r>
            <a:r>
              <a:rPr sz="1800" b="1" dirty="0">
                <a:latin typeface="Calibri"/>
                <a:cs typeface="Calibri"/>
              </a:rPr>
              <a:t> for</a:t>
            </a:r>
            <a:r>
              <a:rPr sz="1800" b="1" spc="-30" dirty="0">
                <a:latin typeface="Calibri"/>
                <a:cs typeface="Calibri"/>
              </a:rPr>
              <a:t> </a:t>
            </a:r>
            <a:r>
              <a:rPr sz="1800" b="1" spc="80" dirty="0">
                <a:latin typeface="Calibri"/>
                <a:cs typeface="Calibri"/>
              </a:rPr>
              <a:t>more</a:t>
            </a:r>
            <a:r>
              <a:rPr sz="1800" b="1" dirty="0">
                <a:latin typeface="Calibri"/>
                <a:cs typeface="Calibri"/>
              </a:rPr>
              <a:t> </a:t>
            </a:r>
            <a:r>
              <a:rPr sz="1800" b="1" spc="75" dirty="0">
                <a:latin typeface="Calibri"/>
                <a:cs typeface="Calibri"/>
              </a:rPr>
              <a:t>pictures,</a:t>
            </a:r>
            <a:r>
              <a:rPr sz="1800" b="1" spc="25" dirty="0">
                <a:latin typeface="Calibri"/>
                <a:cs typeface="Calibri"/>
              </a:rPr>
              <a:t> </a:t>
            </a:r>
            <a:r>
              <a:rPr sz="1800" b="1" spc="60" dirty="0">
                <a:latin typeface="Calibri"/>
                <a:cs typeface="Calibri"/>
              </a:rPr>
              <a:t>observation</a:t>
            </a:r>
            <a:endParaRPr sz="1800">
              <a:latin typeface="Calibri"/>
              <a:cs typeface="Calibri"/>
            </a:endParaRPr>
          </a:p>
        </p:txBody>
      </p:sp>
      <p:sp>
        <p:nvSpPr>
          <p:cNvPr id="4" name="TextBox 3">
            <a:extLst>
              <a:ext uri="{FF2B5EF4-FFF2-40B4-BE49-F238E27FC236}">
                <a16:creationId xmlns:a16="http://schemas.microsoft.com/office/drawing/2014/main" id="{A3250FB4-C59F-CECA-9EB6-39C8B6C4E057}"/>
              </a:ext>
            </a:extLst>
          </p:cNvPr>
          <p:cNvSpPr txBox="1"/>
          <p:nvPr/>
        </p:nvSpPr>
        <p:spPr>
          <a:xfrm>
            <a:off x="152401" y="990599"/>
            <a:ext cx="11887200" cy="1200329"/>
          </a:xfrm>
          <a:prstGeom prst="rect">
            <a:avLst/>
          </a:prstGeom>
          <a:noFill/>
        </p:spPr>
        <p:txBody>
          <a:bodyPr wrap="square" rtlCol="0">
            <a:spAutoFit/>
          </a:bodyPr>
          <a:lstStyle/>
          <a:p>
            <a:r>
              <a:rPr lang="en-IN" dirty="0"/>
              <a:t>As we learnt that students want tasty and easily eatable food, we decided to look for other healthy items that are palatable and quickly eatable and also tasty. We came to two choices: Boiled corn and Fruit popsicles</a:t>
            </a:r>
          </a:p>
          <a:p>
            <a:r>
              <a:rPr lang="en-IN" dirty="0"/>
              <a:t>Boiled corn was sold out like a fire, by afternoon lunch, 2/3 of the quantity prepared was empty.</a:t>
            </a:r>
          </a:p>
          <a:p>
            <a:r>
              <a:rPr lang="en-IN" dirty="0"/>
              <a:t>Popsicles were no match. By afternoon fully sold out</a:t>
            </a:r>
          </a:p>
        </p:txBody>
      </p:sp>
      <p:graphicFrame>
        <p:nvGraphicFramePr>
          <p:cNvPr id="5" name="Content Placeholder 3">
            <a:extLst>
              <a:ext uri="{FF2B5EF4-FFF2-40B4-BE49-F238E27FC236}">
                <a16:creationId xmlns:a16="http://schemas.microsoft.com/office/drawing/2014/main" id="{04B307BB-7327-AC77-28CF-A56D30564A9F}"/>
              </a:ext>
            </a:extLst>
          </p:cNvPr>
          <p:cNvGraphicFramePr>
            <a:graphicFrameLocks/>
          </p:cNvGraphicFramePr>
          <p:nvPr>
            <p:extLst>
              <p:ext uri="{D42A27DB-BD31-4B8C-83A1-F6EECF244321}">
                <p14:modId xmlns:p14="http://schemas.microsoft.com/office/powerpoint/2010/main" val="540705689"/>
              </p:ext>
            </p:extLst>
          </p:nvPr>
        </p:nvGraphicFramePr>
        <p:xfrm>
          <a:off x="838200" y="2354694"/>
          <a:ext cx="10223816" cy="3606800"/>
        </p:xfrm>
        <a:graphic>
          <a:graphicData uri="http://schemas.openxmlformats.org/drawingml/2006/table">
            <a:tbl>
              <a:tblPr firstRow="1" bandRow="1">
                <a:tableStyleId>{5C22544A-7EE6-4342-B048-85BDC9FD1C3A}</a:tableStyleId>
              </a:tblPr>
              <a:tblGrid>
                <a:gridCol w="3518218">
                  <a:extLst>
                    <a:ext uri="{9D8B030D-6E8A-4147-A177-3AD203B41FA5}">
                      <a16:colId xmlns:a16="http://schemas.microsoft.com/office/drawing/2014/main" val="3875860792"/>
                    </a:ext>
                  </a:extLst>
                </a:gridCol>
                <a:gridCol w="3352799">
                  <a:extLst>
                    <a:ext uri="{9D8B030D-6E8A-4147-A177-3AD203B41FA5}">
                      <a16:colId xmlns:a16="http://schemas.microsoft.com/office/drawing/2014/main" val="3650503854"/>
                    </a:ext>
                  </a:extLst>
                </a:gridCol>
                <a:gridCol w="3352799">
                  <a:extLst>
                    <a:ext uri="{9D8B030D-6E8A-4147-A177-3AD203B41FA5}">
                      <a16:colId xmlns:a16="http://schemas.microsoft.com/office/drawing/2014/main" val="1775320376"/>
                    </a:ext>
                  </a:extLst>
                </a:gridCol>
              </a:tblGrid>
              <a:tr h="370840">
                <a:tc>
                  <a:txBody>
                    <a:bodyPr/>
                    <a:lstStyle/>
                    <a:p>
                      <a:r>
                        <a:rPr lang="en-IN" dirty="0"/>
                        <a:t>Name of item</a:t>
                      </a:r>
                    </a:p>
                  </a:txBody>
                  <a:tcPr/>
                </a:tc>
                <a:tc>
                  <a:txBody>
                    <a:bodyPr/>
                    <a:lstStyle/>
                    <a:p>
                      <a:r>
                        <a:rPr lang="en-IN" dirty="0"/>
                        <a:t>Quantity of items produced</a:t>
                      </a:r>
                    </a:p>
                  </a:txBody>
                  <a:tcPr/>
                </a:tc>
                <a:tc>
                  <a:txBody>
                    <a:bodyPr/>
                    <a:lstStyle/>
                    <a:p>
                      <a:r>
                        <a:rPr lang="en-IN" dirty="0"/>
                        <a:t>Quantity of items sold</a:t>
                      </a:r>
                    </a:p>
                  </a:txBody>
                  <a:tcPr/>
                </a:tc>
                <a:extLst>
                  <a:ext uri="{0D108BD9-81ED-4DB2-BD59-A6C34878D82A}">
                    <a16:rowId xmlns:a16="http://schemas.microsoft.com/office/drawing/2014/main" val="744540847"/>
                  </a:ext>
                </a:extLst>
              </a:tr>
              <a:tr h="370840">
                <a:tc>
                  <a:txBody>
                    <a:bodyPr/>
                    <a:lstStyle/>
                    <a:p>
                      <a:r>
                        <a:rPr lang="en-IN" dirty="0"/>
                        <a:t>Samosa</a:t>
                      </a:r>
                    </a:p>
                  </a:txBody>
                  <a:tcPr/>
                </a:tc>
                <a:tc>
                  <a:txBody>
                    <a:bodyPr/>
                    <a:lstStyle/>
                    <a:p>
                      <a:r>
                        <a:rPr lang="en-IN" dirty="0"/>
                        <a:t>95</a:t>
                      </a:r>
                    </a:p>
                  </a:txBody>
                  <a:tcPr/>
                </a:tc>
                <a:tc>
                  <a:txBody>
                    <a:bodyPr/>
                    <a:lstStyle/>
                    <a:p>
                      <a:r>
                        <a:rPr lang="en-IN" dirty="0"/>
                        <a:t>95</a:t>
                      </a:r>
                    </a:p>
                  </a:txBody>
                  <a:tcPr/>
                </a:tc>
                <a:extLst>
                  <a:ext uri="{0D108BD9-81ED-4DB2-BD59-A6C34878D82A}">
                    <a16:rowId xmlns:a16="http://schemas.microsoft.com/office/drawing/2014/main" val="2492157582"/>
                  </a:ext>
                </a:extLst>
              </a:tr>
              <a:tr h="370840">
                <a:tc>
                  <a:txBody>
                    <a:bodyPr/>
                    <a:lstStyle/>
                    <a:p>
                      <a:r>
                        <a:rPr lang="en-IN" dirty="0"/>
                        <a:t>Veg Puff</a:t>
                      </a:r>
                    </a:p>
                  </a:txBody>
                  <a:tcPr/>
                </a:tc>
                <a:tc>
                  <a:txBody>
                    <a:bodyPr/>
                    <a:lstStyle/>
                    <a:p>
                      <a:r>
                        <a:rPr lang="en-IN" dirty="0"/>
                        <a:t>50</a:t>
                      </a:r>
                    </a:p>
                  </a:txBody>
                  <a:tcPr/>
                </a:tc>
                <a:tc>
                  <a:txBody>
                    <a:bodyPr/>
                    <a:lstStyle/>
                    <a:p>
                      <a:r>
                        <a:rPr lang="en-IN" dirty="0"/>
                        <a:t>50</a:t>
                      </a:r>
                    </a:p>
                  </a:txBody>
                  <a:tcPr/>
                </a:tc>
                <a:extLst>
                  <a:ext uri="{0D108BD9-81ED-4DB2-BD59-A6C34878D82A}">
                    <a16:rowId xmlns:a16="http://schemas.microsoft.com/office/drawing/2014/main" val="834396899"/>
                  </a:ext>
                </a:extLst>
              </a:tr>
              <a:tr h="370840">
                <a:tc>
                  <a:txBody>
                    <a:bodyPr/>
                    <a:lstStyle/>
                    <a:p>
                      <a:r>
                        <a:rPr lang="en-IN" dirty="0"/>
                        <a:t>Corn</a:t>
                      </a:r>
                    </a:p>
                  </a:txBody>
                  <a:tcPr/>
                </a:tc>
                <a:tc>
                  <a:txBody>
                    <a:bodyPr/>
                    <a:lstStyle/>
                    <a:p>
                      <a:r>
                        <a:rPr lang="en-IN" dirty="0"/>
                        <a:t>12</a:t>
                      </a:r>
                    </a:p>
                  </a:txBody>
                  <a:tcPr/>
                </a:tc>
                <a:tc>
                  <a:txBody>
                    <a:bodyPr/>
                    <a:lstStyle/>
                    <a:p>
                      <a:r>
                        <a:rPr lang="en-IN" dirty="0"/>
                        <a:t>10</a:t>
                      </a:r>
                    </a:p>
                  </a:txBody>
                  <a:tcPr/>
                </a:tc>
                <a:extLst>
                  <a:ext uri="{0D108BD9-81ED-4DB2-BD59-A6C34878D82A}">
                    <a16:rowId xmlns:a16="http://schemas.microsoft.com/office/drawing/2014/main" val="470389586"/>
                  </a:ext>
                </a:extLst>
              </a:tr>
              <a:tr h="370840">
                <a:tc>
                  <a:txBody>
                    <a:bodyPr/>
                    <a:lstStyle/>
                    <a:p>
                      <a:r>
                        <a:rPr lang="en-IN" dirty="0"/>
                        <a:t>Bread </a:t>
                      </a:r>
                      <a:r>
                        <a:rPr lang="en-IN" dirty="0" err="1"/>
                        <a:t>Pakoda</a:t>
                      </a:r>
                      <a:endParaRPr lang="en-IN" dirty="0"/>
                    </a:p>
                  </a:txBody>
                  <a:tcPr/>
                </a:tc>
                <a:tc>
                  <a:txBody>
                    <a:bodyPr/>
                    <a:lstStyle/>
                    <a:p>
                      <a:r>
                        <a:rPr lang="en-IN" dirty="0"/>
                        <a:t>50</a:t>
                      </a:r>
                    </a:p>
                  </a:txBody>
                  <a:tcPr/>
                </a:tc>
                <a:tc>
                  <a:txBody>
                    <a:bodyPr/>
                    <a:lstStyle/>
                    <a:p>
                      <a:r>
                        <a:rPr lang="en-IN" dirty="0"/>
                        <a:t>50</a:t>
                      </a:r>
                    </a:p>
                  </a:txBody>
                  <a:tcPr/>
                </a:tc>
                <a:extLst>
                  <a:ext uri="{0D108BD9-81ED-4DB2-BD59-A6C34878D82A}">
                    <a16:rowId xmlns:a16="http://schemas.microsoft.com/office/drawing/2014/main" val="2240513743"/>
                  </a:ext>
                </a:extLst>
              </a:tr>
              <a:tr h="370840">
                <a:tc>
                  <a:txBody>
                    <a:bodyPr/>
                    <a:lstStyle/>
                    <a:p>
                      <a:r>
                        <a:rPr lang="en-IN" dirty="0"/>
                        <a:t>Sip Ups</a:t>
                      </a:r>
                    </a:p>
                  </a:txBody>
                  <a:tcPr/>
                </a:tc>
                <a:tc>
                  <a:txBody>
                    <a:bodyPr/>
                    <a:lstStyle/>
                    <a:p>
                      <a:r>
                        <a:rPr lang="en-IN" dirty="0"/>
                        <a:t>300</a:t>
                      </a:r>
                    </a:p>
                  </a:txBody>
                  <a:tcPr/>
                </a:tc>
                <a:tc>
                  <a:txBody>
                    <a:bodyPr/>
                    <a:lstStyle/>
                    <a:p>
                      <a:r>
                        <a:rPr lang="en-IN" dirty="0"/>
                        <a:t>300</a:t>
                      </a:r>
                    </a:p>
                  </a:txBody>
                  <a:tcPr/>
                </a:tc>
                <a:extLst>
                  <a:ext uri="{0D108BD9-81ED-4DB2-BD59-A6C34878D82A}">
                    <a16:rowId xmlns:a16="http://schemas.microsoft.com/office/drawing/2014/main" val="822578933"/>
                  </a:ext>
                </a:extLst>
              </a:tr>
              <a:tr h="370840">
                <a:tc>
                  <a:txBody>
                    <a:bodyPr/>
                    <a:lstStyle/>
                    <a:p>
                      <a:r>
                        <a:rPr lang="en-IN" b="1" i="1" dirty="0">
                          <a:solidFill>
                            <a:srgbClr val="C00000"/>
                          </a:solidFill>
                        </a:rPr>
                        <a:t>Corn Whole</a:t>
                      </a:r>
                    </a:p>
                  </a:txBody>
                  <a:tcPr/>
                </a:tc>
                <a:tc>
                  <a:txBody>
                    <a:bodyPr/>
                    <a:lstStyle/>
                    <a:p>
                      <a:r>
                        <a:rPr lang="en-IN" b="1" i="1" dirty="0">
                          <a:solidFill>
                            <a:srgbClr val="C00000"/>
                          </a:solidFill>
                        </a:rPr>
                        <a:t>12</a:t>
                      </a:r>
                    </a:p>
                  </a:txBody>
                  <a:tcPr/>
                </a:tc>
                <a:tc>
                  <a:txBody>
                    <a:bodyPr/>
                    <a:lstStyle/>
                    <a:p>
                      <a:r>
                        <a:rPr lang="en-IN" b="1" i="1" dirty="0">
                          <a:solidFill>
                            <a:srgbClr val="C00000"/>
                          </a:solidFill>
                        </a:rPr>
                        <a:t>12</a:t>
                      </a:r>
                    </a:p>
                  </a:txBody>
                  <a:tcPr/>
                </a:tc>
                <a:extLst>
                  <a:ext uri="{0D108BD9-81ED-4DB2-BD59-A6C34878D82A}">
                    <a16:rowId xmlns:a16="http://schemas.microsoft.com/office/drawing/2014/main" val="246428077"/>
                  </a:ext>
                </a:extLst>
              </a:tr>
              <a:tr h="370840">
                <a:tc>
                  <a:txBody>
                    <a:bodyPr/>
                    <a:lstStyle/>
                    <a:p>
                      <a:r>
                        <a:rPr lang="en-IN" b="1" i="1" dirty="0">
                          <a:solidFill>
                            <a:srgbClr val="C00000"/>
                          </a:solidFill>
                        </a:rPr>
                        <a:t>Corn Peeled(in paper cups)</a:t>
                      </a:r>
                    </a:p>
                  </a:txBody>
                  <a:tcPr/>
                </a:tc>
                <a:tc>
                  <a:txBody>
                    <a:bodyPr/>
                    <a:lstStyle/>
                    <a:p>
                      <a:r>
                        <a:rPr lang="en-IN" b="1" i="1" dirty="0">
                          <a:solidFill>
                            <a:srgbClr val="C00000"/>
                          </a:solidFill>
                        </a:rPr>
                        <a:t>30</a:t>
                      </a:r>
                    </a:p>
                  </a:txBody>
                  <a:tcPr/>
                </a:tc>
                <a:tc>
                  <a:txBody>
                    <a:bodyPr/>
                    <a:lstStyle/>
                    <a:p>
                      <a:r>
                        <a:rPr lang="en-IN" b="1" i="1" dirty="0">
                          <a:solidFill>
                            <a:srgbClr val="C00000"/>
                          </a:solidFill>
                        </a:rPr>
                        <a:t>30</a:t>
                      </a:r>
                    </a:p>
                  </a:txBody>
                  <a:tcPr/>
                </a:tc>
                <a:extLst>
                  <a:ext uri="{0D108BD9-81ED-4DB2-BD59-A6C34878D82A}">
                    <a16:rowId xmlns:a16="http://schemas.microsoft.com/office/drawing/2014/main" val="3564435043"/>
                  </a:ext>
                </a:extLst>
              </a:tr>
              <a:tr h="370840">
                <a:tc>
                  <a:txBody>
                    <a:bodyPr/>
                    <a:lstStyle/>
                    <a:p>
                      <a:r>
                        <a:rPr lang="en-IN" b="1" i="1" dirty="0">
                          <a:solidFill>
                            <a:srgbClr val="C00000"/>
                          </a:solidFill>
                        </a:rPr>
                        <a:t>Popsicles-Watermelon/Muskmelon</a:t>
                      </a:r>
                    </a:p>
                  </a:txBody>
                  <a:tcPr/>
                </a:tc>
                <a:tc>
                  <a:txBody>
                    <a:bodyPr/>
                    <a:lstStyle/>
                    <a:p>
                      <a:r>
                        <a:rPr lang="en-IN" b="1" i="1" dirty="0">
                          <a:solidFill>
                            <a:srgbClr val="C00000"/>
                          </a:solidFill>
                        </a:rPr>
                        <a:t>15</a:t>
                      </a:r>
                    </a:p>
                  </a:txBody>
                  <a:tcPr/>
                </a:tc>
                <a:tc>
                  <a:txBody>
                    <a:bodyPr/>
                    <a:lstStyle/>
                    <a:p>
                      <a:r>
                        <a:rPr lang="en-IN" b="1" i="1" dirty="0">
                          <a:solidFill>
                            <a:srgbClr val="C00000"/>
                          </a:solidFill>
                        </a:rPr>
                        <a:t>15</a:t>
                      </a:r>
                    </a:p>
                  </a:txBody>
                  <a:tcPr/>
                </a:tc>
                <a:extLst>
                  <a:ext uri="{0D108BD9-81ED-4DB2-BD59-A6C34878D82A}">
                    <a16:rowId xmlns:a16="http://schemas.microsoft.com/office/drawing/2014/main" val="352872222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7620" rIns="0" bIns="0" rtlCol="0">
            <a:spAutoFit/>
          </a:bodyPr>
          <a:lstStyle/>
          <a:p>
            <a:pPr marL="12700" marR="5080" indent="282575">
              <a:lnSpc>
                <a:spcPct val="102299"/>
              </a:lnSpc>
              <a:spcBef>
                <a:spcPts val="60"/>
              </a:spcBef>
            </a:pPr>
            <a:r>
              <a:rPr spc="55" dirty="0"/>
              <a:t>After</a:t>
            </a:r>
            <a:r>
              <a:rPr spc="-35" dirty="0"/>
              <a:t> </a:t>
            </a:r>
            <a:r>
              <a:rPr spc="114" dirty="0"/>
              <a:t>Observation:</a:t>
            </a:r>
            <a:r>
              <a:rPr spc="-80" dirty="0"/>
              <a:t> </a:t>
            </a:r>
            <a:r>
              <a:rPr spc="110" dirty="0"/>
              <a:t>Why</a:t>
            </a:r>
            <a:r>
              <a:rPr spc="-35" dirty="0"/>
              <a:t> </a:t>
            </a:r>
            <a:r>
              <a:rPr spc="175" dirty="0"/>
              <a:t>does</a:t>
            </a:r>
            <a:r>
              <a:rPr spc="-20" dirty="0"/>
              <a:t> </a:t>
            </a:r>
            <a:r>
              <a:rPr dirty="0"/>
              <a:t>it </a:t>
            </a:r>
            <a:r>
              <a:rPr spc="114" dirty="0"/>
              <a:t>happen </a:t>
            </a:r>
            <a:r>
              <a:rPr spc="55" dirty="0"/>
              <a:t>After</a:t>
            </a:r>
            <a:r>
              <a:rPr spc="-50" dirty="0"/>
              <a:t> </a:t>
            </a:r>
            <a:r>
              <a:rPr spc="145" dirty="0"/>
              <a:t>Number</a:t>
            </a:r>
            <a:r>
              <a:rPr spc="-35" dirty="0"/>
              <a:t> </a:t>
            </a:r>
            <a:r>
              <a:rPr spc="-480" dirty="0"/>
              <a:t>|</a:t>
            </a:r>
            <a:r>
              <a:rPr spc="-20" dirty="0"/>
              <a:t> </a:t>
            </a:r>
            <a:r>
              <a:rPr spc="110" dirty="0"/>
              <a:t>Photographs,</a:t>
            </a:r>
            <a:r>
              <a:rPr spc="-15" dirty="0"/>
              <a:t> </a:t>
            </a:r>
            <a:r>
              <a:rPr spc="105" dirty="0"/>
              <a:t>video</a:t>
            </a:r>
            <a:r>
              <a:rPr spc="-20" dirty="0"/>
              <a:t> </a:t>
            </a:r>
            <a:r>
              <a:rPr spc="60" dirty="0"/>
              <a:t>or</a:t>
            </a:r>
            <a:r>
              <a:rPr spc="-35" dirty="0"/>
              <a:t> </a:t>
            </a:r>
            <a:r>
              <a:rPr spc="140" dirty="0"/>
              <a:t>Links</a:t>
            </a:r>
          </a:p>
        </p:txBody>
      </p:sp>
      <p:pic>
        <p:nvPicPr>
          <p:cNvPr id="10" name="Picture 9">
            <a:extLst>
              <a:ext uri="{FF2B5EF4-FFF2-40B4-BE49-F238E27FC236}">
                <a16:creationId xmlns:a16="http://schemas.microsoft.com/office/drawing/2014/main" id="{BC495551-E938-1EBD-6636-D7A6DBDB5A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0" y="1135586"/>
            <a:ext cx="4033265" cy="5377687"/>
          </a:xfrm>
          <a:prstGeom prst="rect">
            <a:avLst/>
          </a:prstGeom>
        </p:spPr>
      </p:pic>
      <p:pic>
        <p:nvPicPr>
          <p:cNvPr id="12" name="Picture 11">
            <a:extLst>
              <a:ext uri="{FF2B5EF4-FFF2-40B4-BE49-F238E27FC236}">
                <a16:creationId xmlns:a16="http://schemas.microsoft.com/office/drawing/2014/main" id="{4B99BBEC-8E98-7944-DD7E-3BED6045B1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907026"/>
            <a:ext cx="5037393" cy="37780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34E17-BDD2-06A5-236D-85002B869E3A}"/>
            </a:ext>
          </a:extLst>
        </p:cNvPr>
        <p:cNvGrpSpPr/>
        <p:nvPr/>
      </p:nvGrpSpPr>
      <p:grpSpPr>
        <a:xfrm>
          <a:off x="0" y="0"/>
          <a:ext cx="0" cy="0"/>
          <a:chOff x="0" y="0"/>
          <a:chExt cx="0" cy="0"/>
        </a:xfrm>
      </p:grpSpPr>
      <p:sp>
        <p:nvSpPr>
          <p:cNvPr id="3" name="object 3" descr="$PPTXTitle">
            <a:extLst>
              <a:ext uri="{FF2B5EF4-FFF2-40B4-BE49-F238E27FC236}">
                <a16:creationId xmlns:a16="http://schemas.microsoft.com/office/drawing/2014/main" id="{7F971906-5FE2-C871-8185-5AE60D72406D}"/>
              </a:ext>
            </a:extLst>
          </p:cNvPr>
          <p:cNvSpPr txBox="1">
            <a:spLocks noGrp="1"/>
          </p:cNvSpPr>
          <p:nvPr>
            <p:ph type="title"/>
          </p:nvPr>
        </p:nvSpPr>
        <p:spPr>
          <a:prstGeom prst="rect">
            <a:avLst/>
          </a:prstGeom>
        </p:spPr>
        <p:txBody>
          <a:bodyPr vert="horz" wrap="square" lIns="0" tIns="7620" rIns="0" bIns="0" rtlCol="0">
            <a:spAutoFit/>
          </a:bodyPr>
          <a:lstStyle/>
          <a:p>
            <a:pPr marL="12700" marR="5080" indent="282575">
              <a:lnSpc>
                <a:spcPct val="102299"/>
              </a:lnSpc>
              <a:spcBef>
                <a:spcPts val="60"/>
              </a:spcBef>
            </a:pPr>
            <a:r>
              <a:rPr spc="55" dirty="0"/>
              <a:t>After</a:t>
            </a:r>
            <a:r>
              <a:rPr spc="-35" dirty="0"/>
              <a:t> </a:t>
            </a:r>
            <a:r>
              <a:rPr spc="114" dirty="0"/>
              <a:t>Observation:</a:t>
            </a:r>
            <a:r>
              <a:rPr spc="-80" dirty="0"/>
              <a:t> </a:t>
            </a:r>
            <a:r>
              <a:rPr spc="110" dirty="0"/>
              <a:t>Why</a:t>
            </a:r>
            <a:r>
              <a:rPr spc="-35" dirty="0"/>
              <a:t> </a:t>
            </a:r>
            <a:r>
              <a:rPr spc="175" dirty="0"/>
              <a:t>does</a:t>
            </a:r>
            <a:r>
              <a:rPr spc="-20" dirty="0"/>
              <a:t> </a:t>
            </a:r>
            <a:r>
              <a:rPr dirty="0"/>
              <a:t>it </a:t>
            </a:r>
            <a:r>
              <a:rPr spc="114" dirty="0"/>
              <a:t>happen </a:t>
            </a:r>
            <a:r>
              <a:rPr spc="55" dirty="0"/>
              <a:t>After</a:t>
            </a:r>
            <a:r>
              <a:rPr spc="-50" dirty="0"/>
              <a:t> </a:t>
            </a:r>
            <a:r>
              <a:rPr spc="145" dirty="0"/>
              <a:t>Number</a:t>
            </a:r>
            <a:r>
              <a:rPr spc="-35" dirty="0"/>
              <a:t> </a:t>
            </a:r>
            <a:r>
              <a:rPr spc="-480" dirty="0"/>
              <a:t>|</a:t>
            </a:r>
            <a:r>
              <a:rPr spc="-20" dirty="0"/>
              <a:t> </a:t>
            </a:r>
            <a:r>
              <a:rPr spc="110" dirty="0"/>
              <a:t>Photographs,</a:t>
            </a:r>
            <a:r>
              <a:rPr spc="-15" dirty="0"/>
              <a:t> </a:t>
            </a:r>
            <a:r>
              <a:rPr spc="105" dirty="0"/>
              <a:t>video</a:t>
            </a:r>
            <a:r>
              <a:rPr spc="-20" dirty="0"/>
              <a:t> </a:t>
            </a:r>
            <a:r>
              <a:rPr spc="60" dirty="0"/>
              <a:t>or</a:t>
            </a:r>
            <a:r>
              <a:rPr spc="-35" dirty="0"/>
              <a:t> </a:t>
            </a:r>
            <a:r>
              <a:rPr spc="140" dirty="0"/>
              <a:t>Links</a:t>
            </a:r>
          </a:p>
        </p:txBody>
      </p:sp>
      <p:pic>
        <p:nvPicPr>
          <p:cNvPr id="6" name="Picture 5">
            <a:extLst>
              <a:ext uri="{FF2B5EF4-FFF2-40B4-BE49-F238E27FC236}">
                <a16:creationId xmlns:a16="http://schemas.microsoft.com/office/drawing/2014/main" id="{43DF289C-C766-9137-CE86-5786CE1FC9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2215" y="786635"/>
            <a:ext cx="4191000" cy="5588000"/>
          </a:xfrm>
          <a:prstGeom prst="rect">
            <a:avLst/>
          </a:prstGeom>
        </p:spPr>
      </p:pic>
      <p:pic>
        <p:nvPicPr>
          <p:cNvPr id="8" name="Picture 7">
            <a:extLst>
              <a:ext uri="{FF2B5EF4-FFF2-40B4-BE49-F238E27FC236}">
                <a16:creationId xmlns:a16="http://schemas.microsoft.com/office/drawing/2014/main" id="{330A3BFB-852F-C434-6FA6-287894E8D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757406"/>
            <a:ext cx="4343400" cy="5504944"/>
          </a:xfrm>
          <a:prstGeom prst="rect">
            <a:avLst/>
          </a:prstGeom>
        </p:spPr>
      </p:pic>
    </p:spTree>
    <p:extLst>
      <p:ext uri="{BB962C8B-B14F-4D97-AF65-F5344CB8AC3E}">
        <p14:creationId xmlns:p14="http://schemas.microsoft.com/office/powerpoint/2010/main" val="4100224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80DF0-6639-FCC0-3AF1-B771F052C46F}"/>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2139AB59-2C51-B603-260F-70C322C9EB5A}"/>
              </a:ext>
            </a:extLst>
          </p:cNvPr>
          <p:cNvSpPr txBox="1">
            <a:spLocks noGrp="1"/>
          </p:cNvSpPr>
          <p:nvPr>
            <p:ph type="title"/>
          </p:nvPr>
        </p:nvSpPr>
        <p:spPr>
          <a:xfrm>
            <a:off x="3232530" y="109283"/>
            <a:ext cx="5507355" cy="717550"/>
          </a:xfrm>
          <a:prstGeom prst="rect">
            <a:avLst/>
          </a:prstGeom>
        </p:spPr>
        <p:txBody>
          <a:bodyPr vert="horz" wrap="square" lIns="0" tIns="15875" rIns="0" bIns="0" rtlCol="0">
            <a:spAutoFit/>
          </a:bodyPr>
          <a:lstStyle/>
          <a:p>
            <a:pPr marL="4445" algn="ctr">
              <a:lnSpc>
                <a:spcPts val="2705"/>
              </a:lnSpc>
              <a:spcBef>
                <a:spcPts val="125"/>
              </a:spcBef>
            </a:pPr>
            <a:r>
              <a:rPr dirty="0"/>
              <a:t>After</a:t>
            </a:r>
            <a:r>
              <a:rPr spc="40" dirty="0"/>
              <a:t> </a:t>
            </a:r>
            <a:r>
              <a:rPr dirty="0"/>
              <a:t>Observation:</a:t>
            </a:r>
            <a:r>
              <a:rPr spc="10" dirty="0"/>
              <a:t> </a:t>
            </a:r>
            <a:r>
              <a:rPr dirty="0"/>
              <a:t>Why</a:t>
            </a:r>
            <a:r>
              <a:rPr spc="10" dirty="0"/>
              <a:t> </a:t>
            </a:r>
            <a:r>
              <a:rPr spc="65" dirty="0"/>
              <a:t>does</a:t>
            </a:r>
            <a:r>
              <a:rPr spc="75" dirty="0"/>
              <a:t> </a:t>
            </a:r>
            <a:r>
              <a:rPr dirty="0"/>
              <a:t>it</a:t>
            </a:r>
            <a:r>
              <a:rPr spc="-10" dirty="0"/>
              <a:t> happen</a:t>
            </a:r>
          </a:p>
          <a:p>
            <a:pPr algn="ctr">
              <a:lnSpc>
                <a:spcPts val="2705"/>
              </a:lnSpc>
            </a:pPr>
            <a:r>
              <a:rPr dirty="0"/>
              <a:t>After</a:t>
            </a:r>
            <a:r>
              <a:rPr spc="35" dirty="0"/>
              <a:t> </a:t>
            </a:r>
            <a:r>
              <a:rPr dirty="0"/>
              <a:t>Number</a:t>
            </a:r>
            <a:r>
              <a:rPr spc="45" dirty="0"/>
              <a:t> </a:t>
            </a:r>
            <a:r>
              <a:rPr spc="-525" dirty="0"/>
              <a:t>|</a:t>
            </a:r>
            <a:r>
              <a:rPr spc="40" dirty="0"/>
              <a:t> </a:t>
            </a:r>
            <a:r>
              <a:rPr dirty="0"/>
              <a:t>Photographs,</a:t>
            </a:r>
            <a:r>
              <a:rPr spc="15" dirty="0"/>
              <a:t> </a:t>
            </a:r>
            <a:r>
              <a:rPr dirty="0"/>
              <a:t>video</a:t>
            </a:r>
            <a:r>
              <a:rPr spc="110" dirty="0"/>
              <a:t> </a:t>
            </a:r>
            <a:r>
              <a:rPr dirty="0"/>
              <a:t>or</a:t>
            </a:r>
            <a:r>
              <a:rPr spc="40" dirty="0"/>
              <a:t> </a:t>
            </a:r>
            <a:r>
              <a:rPr spc="70" dirty="0"/>
              <a:t>Links</a:t>
            </a:r>
          </a:p>
        </p:txBody>
      </p:sp>
      <p:sp>
        <p:nvSpPr>
          <p:cNvPr id="6" name="TextBox 5">
            <a:extLst>
              <a:ext uri="{FF2B5EF4-FFF2-40B4-BE49-F238E27FC236}">
                <a16:creationId xmlns:a16="http://schemas.microsoft.com/office/drawing/2014/main" id="{DE1DC2AF-CA9F-FB80-B995-1AF1AE9A8F08}"/>
              </a:ext>
            </a:extLst>
          </p:cNvPr>
          <p:cNvSpPr txBox="1"/>
          <p:nvPr/>
        </p:nvSpPr>
        <p:spPr>
          <a:xfrm>
            <a:off x="609600" y="1828800"/>
            <a:ext cx="11353799" cy="2677656"/>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What we noticed after availability of healthy food options, students started to buy healthy tasty food. </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Though the sale of junk food did not come down, the healthy food options were accepted by children graciously. </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This demonstrates that replacing the junk with healthy food option is not going to be difficult. </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But the change will happen slowly. Not overnight.</a:t>
            </a:r>
          </a:p>
        </p:txBody>
      </p:sp>
    </p:spTree>
    <p:extLst>
      <p:ext uri="{BB962C8B-B14F-4D97-AF65-F5344CB8AC3E}">
        <p14:creationId xmlns:p14="http://schemas.microsoft.com/office/powerpoint/2010/main" val="2771390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49932" y="402526"/>
            <a:ext cx="8691245" cy="608330"/>
          </a:xfrm>
          <a:prstGeom prst="rect">
            <a:avLst/>
          </a:prstGeom>
        </p:spPr>
        <p:txBody>
          <a:bodyPr vert="horz" wrap="square" lIns="0" tIns="14604" rIns="0" bIns="0" rtlCol="0">
            <a:spAutoFit/>
          </a:bodyPr>
          <a:lstStyle/>
          <a:p>
            <a:pPr marL="1270" algn="ctr">
              <a:lnSpc>
                <a:spcPts val="2280"/>
              </a:lnSpc>
              <a:spcBef>
                <a:spcPts val="114"/>
              </a:spcBef>
            </a:pPr>
            <a:r>
              <a:rPr sz="2000" b="1" dirty="0">
                <a:solidFill>
                  <a:srgbClr val="781F6D"/>
                </a:solidFill>
                <a:latin typeface="Calibri"/>
                <a:cs typeface="Calibri"/>
              </a:rPr>
              <a:t>Who's</a:t>
            </a:r>
            <a:r>
              <a:rPr sz="2000" b="1" spc="-80" dirty="0">
                <a:solidFill>
                  <a:srgbClr val="781F6D"/>
                </a:solidFill>
                <a:latin typeface="Calibri"/>
                <a:cs typeface="Calibri"/>
              </a:rPr>
              <a:t> </a:t>
            </a:r>
            <a:r>
              <a:rPr sz="2000" b="1" dirty="0">
                <a:solidFill>
                  <a:srgbClr val="781F6D"/>
                </a:solidFill>
                <a:latin typeface="Calibri"/>
                <a:cs typeface="Calibri"/>
              </a:rPr>
              <a:t>agreed</a:t>
            </a:r>
            <a:r>
              <a:rPr sz="2000" b="1" spc="-45" dirty="0">
                <a:solidFill>
                  <a:srgbClr val="781F6D"/>
                </a:solidFill>
                <a:latin typeface="Calibri"/>
                <a:cs typeface="Calibri"/>
              </a:rPr>
              <a:t> </a:t>
            </a:r>
            <a:r>
              <a:rPr sz="2000" b="1" spc="-35" dirty="0">
                <a:solidFill>
                  <a:srgbClr val="781F6D"/>
                </a:solidFill>
                <a:latin typeface="Calibri"/>
                <a:cs typeface="Calibri"/>
              </a:rPr>
              <a:t>to</a:t>
            </a:r>
            <a:r>
              <a:rPr sz="2000" b="1" spc="-85" dirty="0">
                <a:solidFill>
                  <a:srgbClr val="781F6D"/>
                </a:solidFill>
                <a:latin typeface="Calibri"/>
                <a:cs typeface="Calibri"/>
              </a:rPr>
              <a:t> </a:t>
            </a:r>
            <a:r>
              <a:rPr sz="2000" b="1" dirty="0">
                <a:solidFill>
                  <a:srgbClr val="781F6D"/>
                </a:solidFill>
                <a:latin typeface="Calibri"/>
                <a:cs typeface="Calibri"/>
              </a:rPr>
              <a:t>keep</a:t>
            </a:r>
            <a:r>
              <a:rPr sz="2000" b="1" spc="-45" dirty="0">
                <a:solidFill>
                  <a:srgbClr val="781F6D"/>
                </a:solidFill>
                <a:latin typeface="Calibri"/>
                <a:cs typeface="Calibri"/>
              </a:rPr>
              <a:t> </a:t>
            </a:r>
            <a:r>
              <a:rPr sz="2000" b="1" spc="-10" dirty="0">
                <a:solidFill>
                  <a:srgbClr val="781F6D"/>
                </a:solidFill>
                <a:latin typeface="Calibri"/>
                <a:cs typeface="Calibri"/>
              </a:rPr>
              <a:t>it</a:t>
            </a:r>
            <a:r>
              <a:rPr sz="2000" b="1" spc="-120" dirty="0">
                <a:solidFill>
                  <a:srgbClr val="781F6D"/>
                </a:solidFill>
                <a:latin typeface="Calibri"/>
                <a:cs typeface="Calibri"/>
              </a:rPr>
              <a:t> </a:t>
            </a:r>
            <a:r>
              <a:rPr sz="2000" b="1" spc="-10" dirty="0">
                <a:solidFill>
                  <a:srgbClr val="781F6D"/>
                </a:solidFill>
                <a:latin typeface="Calibri"/>
                <a:cs typeface="Calibri"/>
              </a:rPr>
              <a:t>going?</a:t>
            </a:r>
            <a:endParaRPr sz="2000">
              <a:latin typeface="Calibri"/>
              <a:cs typeface="Calibri"/>
            </a:endParaRPr>
          </a:p>
          <a:p>
            <a:pPr algn="ctr">
              <a:lnSpc>
                <a:spcPts val="2280"/>
              </a:lnSpc>
            </a:pPr>
            <a:r>
              <a:rPr sz="2000" spc="-40" dirty="0">
                <a:solidFill>
                  <a:srgbClr val="781F6D"/>
                </a:solidFill>
                <a:latin typeface="Calibri"/>
                <a:cs typeface="Calibri"/>
              </a:rPr>
              <a:t>(photo</a:t>
            </a:r>
            <a:r>
              <a:rPr sz="2000" spc="-75" dirty="0">
                <a:solidFill>
                  <a:srgbClr val="781F6D"/>
                </a:solidFill>
                <a:latin typeface="Calibri"/>
                <a:cs typeface="Calibri"/>
              </a:rPr>
              <a:t> </a:t>
            </a:r>
            <a:r>
              <a:rPr sz="2000" spc="-70" dirty="0">
                <a:solidFill>
                  <a:srgbClr val="781F6D"/>
                </a:solidFill>
                <a:latin typeface="Calibri"/>
                <a:cs typeface="Calibri"/>
              </a:rPr>
              <a:t>or</a:t>
            </a:r>
            <a:r>
              <a:rPr sz="2000" spc="-75" dirty="0">
                <a:solidFill>
                  <a:srgbClr val="781F6D"/>
                </a:solidFill>
                <a:latin typeface="Calibri"/>
                <a:cs typeface="Calibri"/>
              </a:rPr>
              <a:t> </a:t>
            </a:r>
            <a:r>
              <a:rPr sz="2000" spc="-45" dirty="0">
                <a:solidFill>
                  <a:srgbClr val="781F6D"/>
                </a:solidFill>
                <a:latin typeface="Calibri"/>
                <a:cs typeface="Calibri"/>
              </a:rPr>
              <a:t>written </a:t>
            </a:r>
            <a:r>
              <a:rPr sz="2000" spc="-10" dirty="0">
                <a:solidFill>
                  <a:srgbClr val="781F6D"/>
                </a:solidFill>
                <a:latin typeface="Calibri"/>
                <a:cs typeface="Calibri"/>
              </a:rPr>
              <a:t>proof</a:t>
            </a:r>
            <a:r>
              <a:rPr sz="2000" spc="254" dirty="0">
                <a:solidFill>
                  <a:srgbClr val="781F6D"/>
                </a:solidFill>
                <a:latin typeface="Calibri"/>
                <a:cs typeface="Calibri"/>
              </a:rPr>
              <a:t> </a:t>
            </a:r>
            <a:r>
              <a:rPr sz="2000" dirty="0">
                <a:solidFill>
                  <a:srgbClr val="781F6D"/>
                </a:solidFill>
                <a:latin typeface="Calibri"/>
                <a:cs typeface="Calibri"/>
              </a:rPr>
              <a:t>a</a:t>
            </a:r>
            <a:r>
              <a:rPr sz="2000" spc="-80" dirty="0">
                <a:solidFill>
                  <a:srgbClr val="781F6D"/>
                </a:solidFill>
                <a:latin typeface="Calibri"/>
                <a:cs typeface="Calibri"/>
              </a:rPr>
              <a:t> </a:t>
            </a:r>
            <a:r>
              <a:rPr sz="2000" spc="-40" dirty="0">
                <a:solidFill>
                  <a:srgbClr val="781F6D"/>
                </a:solidFill>
                <a:latin typeface="Calibri"/>
                <a:cs typeface="Calibri"/>
              </a:rPr>
              <a:t>signature,</a:t>
            </a:r>
            <a:r>
              <a:rPr sz="2000" spc="-90" dirty="0">
                <a:solidFill>
                  <a:srgbClr val="781F6D"/>
                </a:solidFill>
                <a:latin typeface="Calibri"/>
                <a:cs typeface="Calibri"/>
              </a:rPr>
              <a:t> </a:t>
            </a:r>
            <a:r>
              <a:rPr sz="2000" dirty="0">
                <a:solidFill>
                  <a:srgbClr val="781F6D"/>
                </a:solidFill>
                <a:latin typeface="Calibri"/>
                <a:cs typeface="Calibri"/>
              </a:rPr>
              <a:t>a</a:t>
            </a:r>
            <a:r>
              <a:rPr sz="2000" spc="-80" dirty="0">
                <a:solidFill>
                  <a:srgbClr val="781F6D"/>
                </a:solidFill>
                <a:latin typeface="Calibri"/>
                <a:cs typeface="Calibri"/>
              </a:rPr>
              <a:t> </a:t>
            </a:r>
            <a:r>
              <a:rPr sz="2000" spc="-45" dirty="0">
                <a:solidFill>
                  <a:srgbClr val="781F6D"/>
                </a:solidFill>
                <a:latin typeface="Calibri"/>
                <a:cs typeface="Calibri"/>
              </a:rPr>
              <a:t>note,</a:t>
            </a:r>
            <a:r>
              <a:rPr sz="2000" spc="-90" dirty="0">
                <a:solidFill>
                  <a:srgbClr val="781F6D"/>
                </a:solidFill>
                <a:latin typeface="Calibri"/>
                <a:cs typeface="Calibri"/>
              </a:rPr>
              <a:t> </a:t>
            </a:r>
            <a:r>
              <a:rPr sz="2000" spc="-50" dirty="0">
                <a:solidFill>
                  <a:srgbClr val="781F6D"/>
                </a:solidFill>
                <a:latin typeface="Calibri"/>
                <a:cs typeface="Calibri"/>
              </a:rPr>
              <a:t>anything</a:t>
            </a:r>
            <a:r>
              <a:rPr sz="2000" spc="-120" dirty="0">
                <a:solidFill>
                  <a:srgbClr val="781F6D"/>
                </a:solidFill>
                <a:latin typeface="Calibri"/>
                <a:cs typeface="Calibri"/>
              </a:rPr>
              <a:t> </a:t>
            </a:r>
            <a:r>
              <a:rPr sz="2000" spc="-10" dirty="0">
                <a:solidFill>
                  <a:srgbClr val="781F6D"/>
                </a:solidFill>
                <a:latin typeface="Calibri"/>
                <a:cs typeface="Calibri"/>
              </a:rPr>
              <a:t>showing</a:t>
            </a:r>
            <a:r>
              <a:rPr sz="2000" spc="-50" dirty="0">
                <a:solidFill>
                  <a:srgbClr val="781F6D"/>
                </a:solidFill>
                <a:latin typeface="Calibri"/>
                <a:cs typeface="Calibri"/>
              </a:rPr>
              <a:t> </a:t>
            </a:r>
            <a:r>
              <a:rPr sz="2000" spc="-55" dirty="0">
                <a:solidFill>
                  <a:srgbClr val="781F6D"/>
                </a:solidFill>
                <a:latin typeface="Calibri"/>
                <a:cs typeface="Calibri"/>
              </a:rPr>
              <a:t>it</a:t>
            </a:r>
            <a:r>
              <a:rPr sz="2000" spc="-60" dirty="0">
                <a:solidFill>
                  <a:srgbClr val="781F6D"/>
                </a:solidFill>
                <a:latin typeface="Calibri"/>
                <a:cs typeface="Calibri"/>
              </a:rPr>
              <a:t> </a:t>
            </a:r>
            <a:r>
              <a:rPr sz="2000" spc="-10" dirty="0">
                <a:solidFill>
                  <a:srgbClr val="781F6D"/>
                </a:solidFill>
                <a:latin typeface="Calibri"/>
                <a:cs typeface="Calibri"/>
              </a:rPr>
              <a:t>continues</a:t>
            </a:r>
            <a:r>
              <a:rPr sz="2000" spc="-100" dirty="0">
                <a:solidFill>
                  <a:srgbClr val="781F6D"/>
                </a:solidFill>
                <a:latin typeface="Calibri"/>
                <a:cs typeface="Calibri"/>
              </a:rPr>
              <a:t> </a:t>
            </a:r>
            <a:r>
              <a:rPr sz="2000" spc="-40" dirty="0">
                <a:solidFill>
                  <a:srgbClr val="781F6D"/>
                </a:solidFill>
                <a:latin typeface="Calibri"/>
                <a:cs typeface="Calibri"/>
              </a:rPr>
              <a:t>without</a:t>
            </a:r>
            <a:r>
              <a:rPr sz="2000" spc="-60" dirty="0">
                <a:solidFill>
                  <a:srgbClr val="781F6D"/>
                </a:solidFill>
                <a:latin typeface="Calibri"/>
                <a:cs typeface="Calibri"/>
              </a:rPr>
              <a:t> </a:t>
            </a:r>
            <a:r>
              <a:rPr sz="2000" spc="-20" dirty="0">
                <a:solidFill>
                  <a:srgbClr val="781F6D"/>
                </a:solidFill>
                <a:latin typeface="Calibri"/>
                <a:cs typeface="Calibri"/>
              </a:rPr>
              <a:t>you)</a:t>
            </a:r>
            <a:endParaRPr sz="2000">
              <a:latin typeface="Calibri"/>
              <a:cs typeface="Calibri"/>
            </a:endParaRPr>
          </a:p>
        </p:txBody>
      </p:sp>
      <p:sp>
        <p:nvSpPr>
          <p:cNvPr id="3" name="TextBox 2">
            <a:extLst>
              <a:ext uri="{FF2B5EF4-FFF2-40B4-BE49-F238E27FC236}">
                <a16:creationId xmlns:a16="http://schemas.microsoft.com/office/drawing/2014/main" id="{26EA3B5A-8AF2-62F0-4F68-A627489F3B37}"/>
              </a:ext>
            </a:extLst>
          </p:cNvPr>
          <p:cNvSpPr txBox="1"/>
          <p:nvPr/>
        </p:nvSpPr>
        <p:spPr>
          <a:xfrm>
            <a:off x="457200" y="1010856"/>
            <a:ext cx="10972800" cy="1323439"/>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Our school is run by Sharada Group of Institutions also known as </a:t>
            </a:r>
            <a:r>
              <a:rPr lang="en-IN" sz="2000" dirty="0" err="1">
                <a:latin typeface="Times New Roman" panose="02020603050405020304" pitchFamily="18" charset="0"/>
                <a:cs typeface="Times New Roman" panose="02020603050405020304" pitchFamily="18" charset="0"/>
              </a:rPr>
              <a:t>Tulunadu</a:t>
            </a:r>
            <a:r>
              <a:rPr lang="en-IN" sz="2000" dirty="0">
                <a:latin typeface="Times New Roman" panose="02020603050405020304" pitchFamily="18" charset="0"/>
                <a:cs typeface="Times New Roman" panose="02020603050405020304" pitchFamily="18" charset="0"/>
              </a:rPr>
              <a:t> Education Trust(T.E.T). The Director and Trustee of T.E.T, Sameer Puranik sir, Academic Principal of Sharada Vidyalaya, Chandrika Bhandary </a:t>
            </a:r>
            <a:r>
              <a:rPr lang="en-IN" sz="2000" dirty="0" err="1">
                <a:latin typeface="Times New Roman" panose="02020603050405020304" pitchFamily="18" charset="0"/>
                <a:cs typeface="Times New Roman" panose="02020603050405020304" pitchFamily="18" charset="0"/>
              </a:rPr>
              <a:t>Maam</a:t>
            </a:r>
            <a:r>
              <a:rPr lang="en-IN" sz="2000" dirty="0">
                <a:latin typeface="Times New Roman" panose="02020603050405020304" pitchFamily="18" charset="0"/>
                <a:cs typeface="Times New Roman" panose="02020603050405020304" pitchFamily="18" charset="0"/>
              </a:rPr>
              <a:t> and Administrative Principal of Sharada Vidyalaya, Dayanand Kateel Sir have assured that these changes are permanent and shall not be removed from our canteen</a:t>
            </a:r>
          </a:p>
        </p:txBody>
      </p:sp>
      <p:pic>
        <p:nvPicPr>
          <p:cNvPr id="6" name="Picture 5">
            <a:extLst>
              <a:ext uri="{FF2B5EF4-FFF2-40B4-BE49-F238E27FC236}">
                <a16:creationId xmlns:a16="http://schemas.microsoft.com/office/drawing/2014/main" id="{3C83B945-E515-696C-0ADA-141D309453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7600" y="2418144"/>
            <a:ext cx="4572000" cy="3429000"/>
          </a:xfrm>
          <a:prstGeom prst="rect">
            <a:avLst/>
          </a:prstGeom>
        </p:spPr>
      </p:pic>
      <p:sp>
        <p:nvSpPr>
          <p:cNvPr id="7" name="TextBox 6">
            <a:extLst>
              <a:ext uri="{FF2B5EF4-FFF2-40B4-BE49-F238E27FC236}">
                <a16:creationId xmlns:a16="http://schemas.microsoft.com/office/drawing/2014/main" id="{9162C1E0-F634-F62B-B63B-A44A9AD6A165}"/>
              </a:ext>
            </a:extLst>
          </p:cNvPr>
          <p:cNvSpPr txBox="1"/>
          <p:nvPr/>
        </p:nvSpPr>
        <p:spPr>
          <a:xfrm>
            <a:off x="457200" y="2942625"/>
            <a:ext cx="6781799" cy="2862322"/>
          </a:xfrm>
          <a:prstGeom prst="rect">
            <a:avLst/>
          </a:prstGeom>
          <a:noFill/>
        </p:spPr>
        <p:txBody>
          <a:bodyPr wrap="square" rtlCol="0">
            <a:spAutoFit/>
          </a:bodyPr>
          <a:lstStyle/>
          <a:p>
            <a:r>
              <a:rPr lang="en-IN" dirty="0"/>
              <a:t>Links:-</a:t>
            </a:r>
          </a:p>
          <a:p>
            <a:pPr marL="342900" indent="-342900">
              <a:buAutoNum type="arabicPeriod"/>
            </a:pPr>
            <a:r>
              <a:rPr lang="en-IN" b="1" dirty="0"/>
              <a:t>Interview of Sameer Puranik sir</a:t>
            </a:r>
            <a:r>
              <a:rPr lang="en-IN" dirty="0"/>
              <a:t>: </a:t>
            </a:r>
            <a:r>
              <a:rPr lang="en-IN" dirty="0">
                <a:hlinkClick r:id="rId3"/>
              </a:rPr>
              <a:t>https://drive.google.com/file/d/1v45AK-J_yHxNy9QDySQ19-L-nQeiTEIr/view?usp=drive_link</a:t>
            </a:r>
            <a:endParaRPr lang="en-IN" dirty="0"/>
          </a:p>
          <a:p>
            <a:pPr marL="342900" indent="-342900">
              <a:buAutoNum type="arabicPeriod"/>
            </a:pPr>
            <a:r>
              <a:rPr lang="en-IN" b="1" dirty="0"/>
              <a:t>Interview of Chandrika Bhandary </a:t>
            </a:r>
            <a:r>
              <a:rPr lang="en-IN" b="1" dirty="0" err="1"/>
              <a:t>Maam</a:t>
            </a:r>
            <a:r>
              <a:rPr lang="en-IN" dirty="0"/>
              <a:t>: </a:t>
            </a:r>
            <a:r>
              <a:rPr lang="en-IN" dirty="0">
                <a:hlinkClick r:id="rId4"/>
              </a:rPr>
              <a:t>https://drive.google.com/file/d/1UAon4S12f-0vgeNLk4Gt6KPl3Zzl5JPh/view?usp=sharing</a:t>
            </a:r>
            <a:endParaRPr lang="en-IN" dirty="0"/>
          </a:p>
          <a:p>
            <a:pPr marL="342900" indent="-342900">
              <a:buAutoNum type="arabicPeriod"/>
            </a:pPr>
            <a:r>
              <a:rPr lang="en-IN" b="1" dirty="0"/>
              <a:t>Interview of Dayanand Kateel Sir:</a:t>
            </a:r>
            <a:r>
              <a:rPr lang="en-IN" dirty="0"/>
              <a:t> </a:t>
            </a:r>
            <a:r>
              <a:rPr lang="en-IN" dirty="0">
                <a:hlinkClick r:id="rId5"/>
              </a:rPr>
              <a:t>https://drive.google.com/file/d/1OyzaEwnHrNaja4pqwoyqDbvjU8BzwBOs/view?usp=drive_link</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8200" y="1600200"/>
            <a:ext cx="263136" cy="262674"/>
          </a:xfrm>
          <a:prstGeom prst="rect">
            <a:avLst/>
          </a:prstGeom>
        </p:spPr>
      </p:pic>
      <p:sp>
        <p:nvSpPr>
          <p:cNvPr id="3" name="object 3"/>
          <p:cNvSpPr txBox="1"/>
          <p:nvPr/>
        </p:nvSpPr>
        <p:spPr>
          <a:xfrm>
            <a:off x="533400" y="914400"/>
            <a:ext cx="10736676" cy="5783635"/>
          </a:xfrm>
          <a:prstGeom prst="rect">
            <a:avLst/>
          </a:prstGeom>
        </p:spPr>
        <p:txBody>
          <a:bodyPr vert="horz" wrap="square" lIns="0" tIns="12700" rIns="0" bIns="0" rtlCol="0">
            <a:spAutoFit/>
          </a:bodyPr>
          <a:lstStyle/>
          <a:p>
            <a:pPr marL="12700" algn="ctr">
              <a:lnSpc>
                <a:spcPct val="100000"/>
              </a:lnSpc>
              <a:spcBef>
                <a:spcPts val="100"/>
              </a:spcBef>
            </a:pPr>
            <a:r>
              <a:rPr sz="1800" b="1" dirty="0">
                <a:latin typeface="Times New Roman" panose="02020603050405020304" pitchFamily="18" charset="0"/>
                <a:cs typeface="Times New Roman" panose="02020603050405020304" pitchFamily="18" charset="0"/>
              </a:rPr>
              <a:t>The </a:t>
            </a:r>
            <a:r>
              <a:rPr sz="1800" b="1" spc="-10" dirty="0">
                <a:latin typeface="Times New Roman" panose="02020603050405020304" pitchFamily="18" charset="0"/>
                <a:cs typeface="Times New Roman" panose="02020603050405020304" pitchFamily="18" charset="0"/>
              </a:rPr>
              <a:t>Story</a:t>
            </a:r>
            <a:endParaRPr sz="1800" b="1" dirty="0">
              <a:latin typeface="Times New Roman" panose="02020603050405020304" pitchFamily="18" charset="0"/>
              <a:cs typeface="Times New Roman" panose="02020603050405020304" pitchFamily="18" charset="0"/>
            </a:endParaRPr>
          </a:p>
          <a:p>
            <a:pPr>
              <a:lnSpc>
                <a:spcPct val="100000"/>
              </a:lnSpc>
              <a:spcBef>
                <a:spcPts val="1050"/>
              </a:spcBef>
            </a:pPr>
            <a:endParaRPr sz="1800" dirty="0">
              <a:latin typeface="Times New Roman" panose="02020603050405020304" pitchFamily="18" charset="0"/>
              <a:cs typeface="Times New Roman" panose="02020603050405020304" pitchFamily="18" charset="0"/>
            </a:endParaRPr>
          </a:p>
          <a:p>
            <a:pPr marL="12700">
              <a:lnSpc>
                <a:spcPct val="100000"/>
              </a:lnSpc>
              <a:tabLst>
                <a:tab pos="715645" algn="l"/>
              </a:tabLst>
            </a:pPr>
            <a:r>
              <a:rPr sz="1800" spc="-25" dirty="0">
                <a:latin typeface="Times New Roman" panose="02020603050405020304" pitchFamily="18" charset="0"/>
                <a:cs typeface="Times New Roman" panose="02020603050405020304" pitchFamily="18" charset="0"/>
              </a:rPr>
              <a:t>1.</a:t>
            </a:r>
            <a:r>
              <a:rPr sz="1800" dirty="0">
                <a:latin typeface="Times New Roman" panose="02020603050405020304" pitchFamily="18" charset="0"/>
                <a:cs typeface="Times New Roman" panose="02020603050405020304" pitchFamily="18" charset="0"/>
              </a:rPr>
              <a:t>	What</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you</a:t>
            </a:r>
            <a:r>
              <a:rPr sz="1800" spc="35"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did?</a:t>
            </a:r>
            <a:endParaRPr lang="en-IN" sz="1800" spc="-20" dirty="0">
              <a:latin typeface="Times New Roman" panose="02020603050405020304" pitchFamily="18" charset="0"/>
              <a:cs typeface="Times New Roman" panose="02020603050405020304" pitchFamily="18" charset="0"/>
            </a:endParaRPr>
          </a:p>
          <a:p>
            <a:pPr marL="12700">
              <a:lnSpc>
                <a:spcPct val="100000"/>
              </a:lnSpc>
              <a:tabLst>
                <a:tab pos="715645" algn="l"/>
              </a:tabLst>
            </a:pPr>
            <a:r>
              <a:rPr lang="en-IN" b="1" spc="-20" dirty="0">
                <a:latin typeface="Times New Roman" panose="02020603050405020304" pitchFamily="18" charset="0"/>
                <a:cs typeface="Times New Roman" panose="02020603050405020304" pitchFamily="18" charset="0"/>
              </a:rPr>
              <a:t>Ans: </a:t>
            </a:r>
            <a:r>
              <a:rPr lang="en-IN" spc="-20" dirty="0">
                <a:latin typeface="Times New Roman" panose="02020603050405020304" pitchFamily="18" charset="0"/>
                <a:cs typeface="Times New Roman" panose="02020603050405020304" pitchFamily="18" charset="0"/>
              </a:rPr>
              <a:t>Spoke to the principals and school management and requested them to add healthy options like boiled corn and fruit popsicles to the canteen menu. Then we displayed posters of </a:t>
            </a:r>
            <a:r>
              <a:rPr lang="en-IN" b="1" i="1" spc="-20" dirty="0" err="1">
                <a:latin typeface="Times New Roman" panose="02020603050405020304" pitchFamily="18" charset="0"/>
                <a:cs typeface="Times New Roman" panose="02020603050405020304" pitchFamily="18" charset="0"/>
              </a:rPr>
              <a:t>FoodMan</a:t>
            </a:r>
            <a:r>
              <a:rPr lang="en-IN" spc="-20" dirty="0">
                <a:latin typeface="Times New Roman" panose="02020603050405020304" pitchFamily="18" charset="0"/>
                <a:cs typeface="Times New Roman" panose="02020603050405020304" pitchFamily="18" charset="0"/>
              </a:rPr>
              <a:t> and nutritional value of boiled corn in the canteen. Then we also found out how many junk food items are being sold in the canteen. We also kept a track of the sale of corn and fruit popsicles.</a:t>
            </a:r>
          </a:p>
          <a:p>
            <a:pPr marL="12700">
              <a:lnSpc>
                <a:spcPct val="100000"/>
              </a:lnSpc>
              <a:tabLst>
                <a:tab pos="715645" algn="l"/>
              </a:tabLst>
            </a:pPr>
            <a:endParaRPr lang="en-IN" b="1" spc="-20" dirty="0">
              <a:latin typeface="Times New Roman" panose="02020603050405020304" pitchFamily="18" charset="0"/>
              <a:cs typeface="Times New Roman" panose="02020603050405020304" pitchFamily="18" charset="0"/>
            </a:endParaRPr>
          </a:p>
          <a:p>
            <a:pPr marL="12700">
              <a:tabLst>
                <a:tab pos="715645" algn="l"/>
              </a:tabLst>
            </a:pPr>
            <a:r>
              <a:rPr lang="en-IN" sz="1800" spc="-25" dirty="0">
                <a:latin typeface="Times New Roman" panose="02020603050405020304" pitchFamily="18" charset="0"/>
                <a:cs typeface="Times New Roman" panose="02020603050405020304" pitchFamily="18" charset="0"/>
              </a:rPr>
              <a:t>2.         </a:t>
            </a:r>
            <a:r>
              <a:rPr lang="en-IN" sz="1800" dirty="0">
                <a:latin typeface="Times New Roman" panose="02020603050405020304" pitchFamily="18" charset="0"/>
                <a:cs typeface="Times New Roman" panose="02020603050405020304" pitchFamily="18" charset="0"/>
              </a:rPr>
              <a:t>How</a:t>
            </a:r>
            <a:r>
              <a:rPr lang="en-IN" sz="1800" spc="55"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you</a:t>
            </a:r>
            <a:r>
              <a:rPr lang="en-IN" sz="1800" spc="60" dirty="0">
                <a:latin typeface="Times New Roman" panose="02020603050405020304" pitchFamily="18" charset="0"/>
                <a:cs typeface="Times New Roman" panose="02020603050405020304" pitchFamily="18" charset="0"/>
              </a:rPr>
              <a:t> </a:t>
            </a:r>
            <a:r>
              <a:rPr lang="en-IN" sz="1800" spc="-20" dirty="0">
                <a:latin typeface="Times New Roman" panose="02020603050405020304" pitchFamily="18" charset="0"/>
                <a:cs typeface="Times New Roman" panose="02020603050405020304" pitchFamily="18" charset="0"/>
              </a:rPr>
              <a:t>did?</a:t>
            </a:r>
            <a:endParaRPr lang="en-IN" sz="1800" dirty="0">
              <a:latin typeface="Times New Roman" panose="02020603050405020304" pitchFamily="18" charset="0"/>
              <a:cs typeface="Times New Roman" panose="02020603050405020304" pitchFamily="18" charset="0"/>
            </a:endParaRPr>
          </a:p>
          <a:p>
            <a:pPr marL="12700">
              <a:tabLst>
                <a:tab pos="715645" algn="l"/>
              </a:tabLst>
            </a:pPr>
            <a:r>
              <a:rPr lang="en-IN" sz="1800" b="1" dirty="0">
                <a:latin typeface="Times New Roman" panose="02020603050405020304" pitchFamily="18" charset="0"/>
                <a:cs typeface="Times New Roman" panose="02020603050405020304" pitchFamily="18" charset="0"/>
              </a:rPr>
              <a:t>Ans:</a:t>
            </a:r>
            <a:r>
              <a:rPr lang="en-IN" sz="1800" dirty="0">
                <a:latin typeface="Times New Roman" panose="02020603050405020304" pitchFamily="18" charset="0"/>
                <a:cs typeface="Times New Roman" panose="02020603050405020304" pitchFamily="18" charset="0"/>
              </a:rPr>
              <a:t> We spoke to the canteen manager, bought him popsicle moulds for fruit popsicles. We </a:t>
            </a:r>
            <a:r>
              <a:rPr lang="en-IN" dirty="0">
                <a:latin typeface="Times New Roman" panose="02020603050405020304" pitchFamily="18" charset="0"/>
                <a:cs typeface="Times New Roman" panose="02020603050405020304" pitchFamily="18" charset="0"/>
              </a:rPr>
              <a:t>instructed them to prepare fruit popsicles by freezing fresh fruit juices without any extra sugar. </a:t>
            </a:r>
            <a:r>
              <a:rPr lang="en-IN" sz="1800" dirty="0">
                <a:latin typeface="Times New Roman" panose="02020603050405020304" pitchFamily="18" charset="0"/>
                <a:cs typeface="Times New Roman" panose="02020603050405020304" pitchFamily="18" charset="0"/>
              </a:rPr>
              <a:t>We requested him to make boiled corn in peeled form available. We asked him to place it in such a manner that it is easily visible.</a:t>
            </a:r>
          </a:p>
          <a:p>
            <a:pPr marL="12700">
              <a:lnSpc>
                <a:spcPct val="100000"/>
              </a:lnSpc>
              <a:spcBef>
                <a:spcPts val="105"/>
              </a:spcBef>
            </a:pPr>
            <a:r>
              <a:rPr lang="en-IN" sz="1800" dirty="0">
                <a:latin typeface="Times New Roman" panose="02020603050405020304" pitchFamily="18" charset="0"/>
                <a:cs typeface="Times New Roman" panose="02020603050405020304" pitchFamily="18" charset="0"/>
              </a:rPr>
              <a:t>3.       </a:t>
            </a:r>
            <a:r>
              <a:rPr lang="en-US" sz="1800" dirty="0">
                <a:latin typeface="Times New Roman" panose="02020603050405020304" pitchFamily="18" charset="0"/>
                <a:cs typeface="Times New Roman" panose="02020603050405020304" pitchFamily="18" charset="0"/>
              </a:rPr>
              <a:t>What</a:t>
            </a:r>
            <a:r>
              <a:rPr lang="en-US" sz="1800" spc="20" dirty="0">
                <a:latin typeface="Times New Roman" panose="02020603050405020304" pitchFamily="18" charset="0"/>
                <a:cs typeface="Times New Roman" panose="02020603050405020304" pitchFamily="18" charset="0"/>
              </a:rPr>
              <a:t> </a:t>
            </a:r>
            <a:r>
              <a:rPr lang="en-US" sz="1800" spc="50" dirty="0">
                <a:latin typeface="Times New Roman" panose="02020603050405020304" pitchFamily="18" charset="0"/>
                <a:cs typeface="Times New Roman" panose="02020603050405020304" pitchFamily="18" charset="0"/>
              </a:rPr>
              <a:t>changed?</a:t>
            </a:r>
          </a:p>
          <a:p>
            <a:pPr marL="12700">
              <a:lnSpc>
                <a:spcPct val="100000"/>
              </a:lnSpc>
              <a:spcBef>
                <a:spcPts val="105"/>
              </a:spcBef>
            </a:pPr>
            <a:r>
              <a:rPr lang="en-US" b="1" spc="50" dirty="0">
                <a:latin typeface="Times New Roman" panose="02020603050405020304" pitchFamily="18" charset="0"/>
                <a:cs typeface="Times New Roman" panose="02020603050405020304" pitchFamily="18" charset="0"/>
              </a:rPr>
              <a:t>Ans: </a:t>
            </a:r>
            <a:r>
              <a:rPr lang="en-US" spc="50" dirty="0">
                <a:latin typeface="Times New Roman" panose="02020603050405020304" pitchFamily="18" charset="0"/>
                <a:cs typeface="Times New Roman" panose="02020603050405020304" pitchFamily="18" charset="0"/>
              </a:rPr>
              <a:t>Students bought the corn and popsicles. This meant that they liked it because the entire corn and popsicles were sold out.</a:t>
            </a:r>
          </a:p>
          <a:p>
            <a:pPr marL="12700">
              <a:lnSpc>
                <a:spcPct val="100000"/>
              </a:lnSpc>
              <a:spcBef>
                <a:spcPts val="100"/>
              </a:spcBef>
            </a:pPr>
            <a:r>
              <a:rPr lang="en-US" sz="1800" spc="50" dirty="0">
                <a:latin typeface="Times New Roman" panose="02020603050405020304" pitchFamily="18" charset="0"/>
                <a:cs typeface="Times New Roman" panose="02020603050405020304" pitchFamily="18" charset="0"/>
              </a:rPr>
              <a:t>4.      </a:t>
            </a:r>
            <a:r>
              <a:rPr lang="en-US" sz="1800" dirty="0">
                <a:latin typeface="Times New Roman" panose="02020603050405020304" pitchFamily="18" charset="0"/>
                <a:cs typeface="Times New Roman" panose="02020603050405020304" pitchFamily="18" charset="0"/>
              </a:rPr>
              <a:t>Will</a:t>
            </a:r>
            <a:r>
              <a:rPr lang="en-US" sz="1800" spc="-2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it</a:t>
            </a:r>
            <a:r>
              <a:rPr lang="en-US" sz="1800" spc="15" dirty="0">
                <a:latin typeface="Times New Roman" panose="02020603050405020304" pitchFamily="18" charset="0"/>
                <a:cs typeface="Times New Roman" panose="02020603050405020304" pitchFamily="18" charset="0"/>
              </a:rPr>
              <a:t> </a:t>
            </a:r>
            <a:r>
              <a:rPr lang="en-US" sz="1800" spc="60" dirty="0">
                <a:latin typeface="Times New Roman" panose="02020603050405020304" pitchFamily="18" charset="0"/>
                <a:cs typeface="Times New Roman" panose="02020603050405020304" pitchFamily="18" charset="0"/>
              </a:rPr>
              <a:t>last?</a:t>
            </a:r>
          </a:p>
          <a:p>
            <a:pPr marL="12700">
              <a:lnSpc>
                <a:spcPct val="100000"/>
              </a:lnSpc>
              <a:spcBef>
                <a:spcPts val="100"/>
              </a:spcBef>
            </a:pPr>
            <a:r>
              <a:rPr lang="en-US" b="1" spc="60" dirty="0">
                <a:latin typeface="Times New Roman" panose="02020603050405020304" pitchFamily="18" charset="0"/>
                <a:cs typeface="Times New Roman" panose="02020603050405020304" pitchFamily="18" charset="0"/>
              </a:rPr>
              <a:t>Ans: </a:t>
            </a:r>
            <a:r>
              <a:rPr lang="en-US" spc="60" dirty="0">
                <a:latin typeface="Times New Roman" panose="02020603050405020304" pitchFamily="18" charset="0"/>
                <a:cs typeface="Times New Roman" panose="02020603050405020304" pitchFamily="18" charset="0"/>
              </a:rPr>
              <a:t>Yes, it will because </a:t>
            </a:r>
          </a:p>
          <a:p>
            <a:pPr marL="355600" indent="-342900">
              <a:lnSpc>
                <a:spcPct val="100000"/>
              </a:lnSpc>
              <a:spcBef>
                <a:spcPts val="100"/>
              </a:spcBef>
              <a:buAutoNum type="arabicPeriod"/>
            </a:pPr>
            <a:r>
              <a:rPr lang="en-US" sz="1800" spc="60" dirty="0">
                <a:latin typeface="Times New Roman" panose="02020603050405020304" pitchFamily="18" charset="0"/>
                <a:cs typeface="Times New Roman" panose="02020603050405020304" pitchFamily="18" charset="0"/>
              </a:rPr>
              <a:t>School authorities are excited about this.</a:t>
            </a:r>
          </a:p>
          <a:p>
            <a:pPr marL="355600" indent="-342900">
              <a:lnSpc>
                <a:spcPct val="100000"/>
              </a:lnSpc>
              <a:spcBef>
                <a:spcPts val="100"/>
              </a:spcBef>
              <a:buAutoNum type="arabicPeriod"/>
            </a:pPr>
            <a:r>
              <a:rPr lang="en-US" spc="60" dirty="0">
                <a:latin typeface="Times New Roman" panose="02020603050405020304" pitchFamily="18" charset="0"/>
                <a:cs typeface="Times New Roman" panose="02020603050405020304" pitchFamily="18" charset="0"/>
              </a:rPr>
              <a:t>Canteen manager is happy about sales.</a:t>
            </a:r>
          </a:p>
          <a:p>
            <a:pPr marL="355600" indent="-342900">
              <a:lnSpc>
                <a:spcPct val="100000"/>
              </a:lnSpc>
              <a:spcBef>
                <a:spcPts val="100"/>
              </a:spcBef>
              <a:buAutoNum type="arabicPeriod"/>
            </a:pPr>
            <a:r>
              <a:rPr lang="en-US" sz="1800" spc="60" dirty="0">
                <a:latin typeface="Times New Roman" panose="02020603050405020304" pitchFamily="18" charset="0"/>
                <a:cs typeface="Times New Roman" panose="02020603050405020304" pitchFamily="18" charset="0"/>
              </a:rPr>
              <a:t>Most importantly my friends have happily accepted this.</a:t>
            </a:r>
          </a:p>
        </p:txBody>
      </p:sp>
      <p:pic>
        <p:nvPicPr>
          <p:cNvPr id="14" name="object 8">
            <a:extLst>
              <a:ext uri="{FF2B5EF4-FFF2-40B4-BE49-F238E27FC236}">
                <a16:creationId xmlns:a16="http://schemas.microsoft.com/office/drawing/2014/main" id="{1E926A4E-DB20-9417-A59E-3C9870EFBF9C}"/>
              </a:ext>
            </a:extLst>
          </p:cNvPr>
          <p:cNvPicPr/>
          <p:nvPr/>
        </p:nvPicPr>
        <p:blipFill>
          <a:blip r:embed="rId2" cstate="print"/>
          <a:stretch>
            <a:fillRect/>
          </a:stretch>
        </p:blipFill>
        <p:spPr>
          <a:xfrm>
            <a:off x="838200" y="3241209"/>
            <a:ext cx="263136" cy="262674"/>
          </a:xfrm>
          <a:prstGeom prst="rect">
            <a:avLst/>
          </a:prstGeom>
        </p:spPr>
      </p:pic>
      <p:pic>
        <p:nvPicPr>
          <p:cNvPr id="16" name="object 5">
            <a:extLst>
              <a:ext uri="{FF2B5EF4-FFF2-40B4-BE49-F238E27FC236}">
                <a16:creationId xmlns:a16="http://schemas.microsoft.com/office/drawing/2014/main" id="{BF3C555F-EE15-74FA-8813-9291388512D3}"/>
              </a:ext>
            </a:extLst>
          </p:cNvPr>
          <p:cNvPicPr/>
          <p:nvPr/>
        </p:nvPicPr>
        <p:blipFill>
          <a:blip r:embed="rId2" cstate="print"/>
          <a:stretch>
            <a:fillRect/>
          </a:stretch>
        </p:blipFill>
        <p:spPr>
          <a:xfrm>
            <a:off x="767449" y="4419600"/>
            <a:ext cx="263136" cy="262674"/>
          </a:xfrm>
          <a:prstGeom prst="rect">
            <a:avLst/>
          </a:prstGeom>
        </p:spPr>
      </p:pic>
      <p:pic>
        <p:nvPicPr>
          <p:cNvPr id="18" name="object 8">
            <a:extLst>
              <a:ext uri="{FF2B5EF4-FFF2-40B4-BE49-F238E27FC236}">
                <a16:creationId xmlns:a16="http://schemas.microsoft.com/office/drawing/2014/main" id="{A584CA04-488F-2095-9CC9-3179033D3395}"/>
              </a:ext>
            </a:extLst>
          </p:cNvPr>
          <p:cNvPicPr/>
          <p:nvPr/>
        </p:nvPicPr>
        <p:blipFill>
          <a:blip r:embed="rId2" cstate="print"/>
          <a:stretch>
            <a:fillRect/>
          </a:stretch>
        </p:blipFill>
        <p:spPr>
          <a:xfrm>
            <a:off x="767449" y="5248330"/>
            <a:ext cx="263136" cy="2626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135</TotalTime>
  <Words>1032</Words>
  <Application>Microsoft Office PowerPoint</Application>
  <PresentationFormat>Widescreen</PresentationFormat>
  <Paragraphs>93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Times New Roman</vt:lpstr>
      <vt:lpstr>Wingdings</vt:lpstr>
      <vt:lpstr>Office Theme</vt:lpstr>
      <vt:lpstr>Student Name: Aditya M CWC ID: 26CWCA3412 School: Sharada Vidyalaya Track: Eat Real #FixYourPlate</vt:lpstr>
      <vt:lpstr>Your Problem Statement</vt:lpstr>
      <vt:lpstr>Before Observation: Why does it happen Before Number | Photographs, video or Links</vt:lpstr>
      <vt:lpstr>Before Observation: Why does it happen Before Number | Photographs, video or Links</vt:lpstr>
      <vt:lpstr>After Observation: Why does it happen After Number | Photographs, video or Links</vt:lpstr>
      <vt:lpstr>After Observation: Why does it happen After Number | Photographs, video or Links</vt:lpstr>
      <vt:lpstr>After Observation: Why does it happen After Number | Photographs, video or Links</vt:lpstr>
      <vt:lpstr>After Observation: Why does it happen After Number | Photographs, video or Links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Name: CWC ID:  School: Track:   </dc:title>
  <dc:creator>Microsoft Office User</dc:creator>
  <cp:lastModifiedBy>Aditya M</cp:lastModifiedBy>
  <cp:revision>7</cp:revision>
  <dcterms:created xsi:type="dcterms:W3CDTF">2026-09-06T09:24:24Z</dcterms:created>
  <dcterms:modified xsi:type="dcterms:W3CDTF">2026-09-06T15:06:39Z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StructuredOutput v12.0.20182.1</vt:lpwstr>
  </property>
  <property fmtid="{D5CDD505-2E9C-101B-9397-08002B2CF9AE}" pid="3" name="Created">
    <vt:filetime>2026-08-24T00:00:00Z</vt:filetime>
  </property>
  <property fmtid="{D5CDD505-2E9C-101B-9397-08002B2CF9AE}" pid="4" name="LastSaved">
    <vt:filetime>2026-09-06T00:00:00Z</vt:filetime>
  </property>
</Properties>
</file>